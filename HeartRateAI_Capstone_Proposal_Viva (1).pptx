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88" r:id="rId2"/>
    <p:sldMasterId id="2147483676" r:id="rId3"/>
  </p:sldMasterIdLst>
  <p:notesMasterIdLst>
    <p:notesMasterId r:id="rId13"/>
  </p:notesMasterIdLst>
  <p:sldIdLst>
    <p:sldId id="289" r:id="rId4"/>
    <p:sldId id="387" r:id="rId5"/>
    <p:sldId id="404" r:id="rId6"/>
    <p:sldId id="388" r:id="rId7"/>
    <p:sldId id="364" r:id="rId8"/>
    <p:sldId id="390" r:id="rId9"/>
    <p:sldId id="389" r:id="rId10"/>
    <p:sldId id="365" r:id="rId11"/>
    <p:sldId id="259" r:id="rId12"/>
  </p:sldIdLst>
  <p:sldSz cx="12192000" cy="6858000"/>
  <p:notesSz cx="6858000" cy="9144000"/>
  <p:embeddedFontLst>
    <p:embeddedFont>
      <p:font typeface="Montserrat Light" panose="020B0604020202020204" charset="0"/>
      <p:regular r:id="rId14"/>
      <p:italic r:id="rId15"/>
    </p:embeddedFont>
    <p:embeddedFont>
      <p:font typeface="Montserrat Bold" panose="020B0604020202020204" charset="0"/>
      <p:bold r:id="rId16"/>
    </p:embeddedFont>
    <p:embeddedFont>
      <p:font typeface="Roboto Slab" panose="020B0604020202020204" charset="0"/>
      <p:regular r:id="rId17"/>
      <p:bold r:id="rId18"/>
    </p:embeddedFont>
    <p:embeddedFont>
      <p:font typeface="Calibri" panose="020F0502020204030204" pitchFamily="34" charset="0"/>
      <p:regular r:id="rId19"/>
      <p:bold r:id="rId20"/>
      <p:italic r:id="rId21"/>
      <p:boldItalic r:id="rId22"/>
    </p:embeddedFont>
    <p:embeddedFont>
      <p:font typeface="Calibri Light" panose="020F0302020204030204" pitchFamily="34" charset="0"/>
      <p:regular r:id="rId23"/>
      <p: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60"/>
  </p:normalViewPr>
  <p:slideViewPr>
    <p:cSldViewPr snapToGrid="0">
      <p:cViewPr varScale="1">
        <p:scale>
          <a:sx n="88" d="100"/>
          <a:sy n="88" d="100"/>
        </p:scale>
        <p:origin x="466" y="67"/>
      </p:cViewPr>
      <p:guideLst/>
    </p:cSldViewPr>
  </p:slideViewPr>
  <p:notesTextViewPr>
    <p:cViewPr>
      <p:scale>
        <a:sx n="1" d="1"/>
        <a:sy n="1" d="1"/>
      </p:scale>
      <p:origin x="0" y="0"/>
    </p:cViewPr>
  </p:notesTextViewPr>
  <p:sorterViewPr>
    <p:cViewPr>
      <p:scale>
        <a:sx n="100" d="100"/>
        <a:sy n="100" d="100"/>
      </p:scale>
      <p:origin x="0" y="-103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font" Target="fonts/font8.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1.fntdata"/><Relationship Id="rId5" Type="http://schemas.openxmlformats.org/officeDocument/2006/relationships/slide" Target="slides/slide2.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font" Target="fonts/font6.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33EF3-0F9B-4425-BB72-0BEB5267ED23}" type="datetimeFigureOut">
              <a:rPr lang="en-US" smtClean="0"/>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CEAAA-9FE9-4C0D-9328-5899C37F98E8}" type="slidenum">
              <a:rPr lang="en-US" smtClean="0"/>
              <a:t>‹#›</a:t>
            </a:fld>
            <a:endParaRPr lang="en-US"/>
          </a:p>
        </p:txBody>
      </p:sp>
    </p:spTree>
    <p:extLst>
      <p:ext uri="{BB962C8B-B14F-4D97-AF65-F5344CB8AC3E}">
        <p14:creationId xmlns:p14="http://schemas.microsoft.com/office/powerpoint/2010/main" val="3746705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3"/>
          <p:cNvGrpSpPr/>
          <p:nvPr userDrawn="1"/>
        </p:nvGrpSpPr>
        <p:grpSpPr>
          <a:xfrm>
            <a:off x="285437" y="265677"/>
            <a:ext cx="11621126" cy="6326646"/>
            <a:chOff x="254476" y="265679"/>
            <a:chExt cx="11621126" cy="6326646"/>
          </a:xfrm>
        </p:grpSpPr>
        <p:sp>
          <p:nvSpPr>
            <p:cNvPr id="8" name="Flowchart: Manual Input 5"/>
            <p:cNvSpPr/>
            <p:nvPr userDrawn="1"/>
          </p:nvSpPr>
          <p:spPr>
            <a:xfrm rot="16200000" flipV="1">
              <a:off x="799317" y="-279162"/>
              <a:ext cx="6326646" cy="741632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3494"/>
                  </a:moveTo>
                  <a:lnTo>
                    <a:pt x="10000" y="0"/>
                  </a:lnTo>
                  <a:lnTo>
                    <a:pt x="10000" y="10000"/>
                  </a:lnTo>
                  <a:lnTo>
                    <a:pt x="0" y="10000"/>
                  </a:lnTo>
                  <a:lnTo>
                    <a:pt x="0" y="3494"/>
                  </a:ln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sp>
          <p:nvSpPr>
            <p:cNvPr id="12" name="Flowchart: Manual Input 5"/>
            <p:cNvSpPr/>
            <p:nvPr userDrawn="1"/>
          </p:nvSpPr>
          <p:spPr>
            <a:xfrm rot="16200000" flipH="1">
              <a:off x="5594106" y="302528"/>
              <a:ext cx="5550769" cy="701222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 name="connsiteX0" fmla="*/ 15 w 10015"/>
                <a:gd name="connsiteY0" fmla="*/ 3494 h 10469"/>
                <a:gd name="connsiteX1" fmla="*/ 10015 w 10015"/>
                <a:gd name="connsiteY1" fmla="*/ 0 h 10469"/>
                <a:gd name="connsiteX2" fmla="*/ 10015 w 10015"/>
                <a:gd name="connsiteY2" fmla="*/ 10000 h 10469"/>
                <a:gd name="connsiteX3" fmla="*/ 0 w 10015"/>
                <a:gd name="connsiteY3" fmla="*/ 10469 h 10469"/>
                <a:gd name="connsiteX4" fmla="*/ 15 w 10015"/>
                <a:gd name="connsiteY4" fmla="*/ 3494 h 10469"/>
                <a:gd name="connsiteX0" fmla="*/ 15 w 10015"/>
                <a:gd name="connsiteY0" fmla="*/ 3494 h 10494"/>
                <a:gd name="connsiteX1" fmla="*/ 10015 w 10015"/>
                <a:gd name="connsiteY1" fmla="*/ 0 h 10494"/>
                <a:gd name="connsiteX2" fmla="*/ 9984 w 10015"/>
                <a:gd name="connsiteY2" fmla="*/ 10494 h 10494"/>
                <a:gd name="connsiteX3" fmla="*/ 0 w 10015"/>
                <a:gd name="connsiteY3" fmla="*/ 10469 h 10494"/>
                <a:gd name="connsiteX4" fmla="*/ 15 w 10015"/>
                <a:gd name="connsiteY4" fmla="*/ 3494 h 10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5" h="10494">
                  <a:moveTo>
                    <a:pt x="15" y="3494"/>
                  </a:moveTo>
                  <a:lnTo>
                    <a:pt x="10015" y="0"/>
                  </a:lnTo>
                  <a:cubicBezTo>
                    <a:pt x="10005" y="3498"/>
                    <a:pt x="9994" y="6996"/>
                    <a:pt x="9984" y="10494"/>
                  </a:cubicBezTo>
                  <a:lnTo>
                    <a:pt x="0" y="10469"/>
                  </a:lnTo>
                  <a:lnTo>
                    <a:pt x="15" y="3494"/>
                  </a:lnTo>
                  <a:close/>
                </a:path>
              </a:pathLst>
            </a:custGeom>
            <a:solidFill>
              <a:schemeClr val="tx1">
                <a:lumMod val="65000"/>
                <a:lumOff val="3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grpSp>
      <p:sp>
        <p:nvSpPr>
          <p:cNvPr id="2" name="Title 1"/>
          <p:cNvSpPr>
            <a:spLocks noGrp="1"/>
          </p:cNvSpPr>
          <p:nvPr>
            <p:ph type="ctrTitle"/>
          </p:nvPr>
        </p:nvSpPr>
        <p:spPr>
          <a:xfrm>
            <a:off x="228600" y="1984375"/>
            <a:ext cx="59055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228600" y="4564063"/>
            <a:ext cx="5905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83" b="37125"/>
          <a:stretch/>
        </p:blipFill>
        <p:spPr>
          <a:xfrm>
            <a:off x="254475" y="3208830"/>
            <a:ext cx="6915786" cy="3375194"/>
          </a:xfrm>
          <a:prstGeom prst="rect">
            <a:avLst/>
          </a:prstGeom>
        </p:spPr>
      </p:pic>
      <p:pic>
        <p:nvPicPr>
          <p:cNvPr id="9" name="Picture 8"/>
          <p:cNvPicPr>
            <a:picLocks noChangeAspect="1"/>
          </p:cNvPicPr>
          <p:nvPr userDrawn="1"/>
        </p:nvPicPr>
        <p:blipFill rotWithShape="1">
          <a:blip r:embed="rId3" cstate="print">
            <a:extLst>
              <a:ext uri="{28A0092B-C50C-407E-A947-70E740481C1C}">
                <a14:useLocalDpi xmlns:a14="http://schemas.microsoft.com/office/drawing/2010/main" val="0"/>
              </a:ext>
            </a:extLst>
          </a:blip>
          <a:srcRect b="28888"/>
          <a:stretch/>
        </p:blipFill>
        <p:spPr>
          <a:xfrm>
            <a:off x="420808" y="423775"/>
            <a:ext cx="2760542" cy="789564"/>
          </a:xfrm>
          <a:prstGeom prst="rect">
            <a:avLst/>
          </a:prstGeom>
        </p:spPr>
      </p:pic>
    </p:spTree>
    <p:extLst>
      <p:ext uri="{BB962C8B-B14F-4D97-AF65-F5344CB8AC3E}">
        <p14:creationId xmlns:p14="http://schemas.microsoft.com/office/powerpoint/2010/main" val="4100441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p:cNvSpPr/>
          <p:nvPr userDrawn="1"/>
        </p:nvSpPr>
        <p:spPr>
          <a:xfrm>
            <a:off x="254476" y="262784"/>
            <a:ext cx="11683049" cy="6120002"/>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Roboto Slab"/>
              <a:ea typeface="+mn-ea"/>
              <a:cs typeface="+mn-cs"/>
            </a:endParaRP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b="29472"/>
          <a:stretch/>
        </p:blipFill>
        <p:spPr>
          <a:xfrm>
            <a:off x="400639" y="379813"/>
            <a:ext cx="2444161" cy="693336"/>
          </a:xfrm>
          <a:prstGeom prst="rect">
            <a:avLst/>
          </a:prstGeom>
        </p:spPr>
      </p:pic>
      <p:cxnSp>
        <p:nvCxnSpPr>
          <p:cNvPr id="11" name="Straight Connector 10"/>
          <p:cNvCxnSpPr/>
          <p:nvPr userDrawn="1"/>
        </p:nvCxnSpPr>
        <p:spPr>
          <a:xfrm>
            <a:off x="3090333" y="1049867"/>
            <a:ext cx="86783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3386667" y="379812"/>
            <a:ext cx="8382000" cy="670055"/>
          </a:xfrm>
        </p:spPr>
        <p:txBody>
          <a:bodyPr>
            <a:normAutofit/>
          </a:bodyPr>
          <a:lstStyle>
            <a:lvl1pPr algn="r">
              <a:defRPr sz="3600"/>
            </a:lvl1pPr>
          </a:lstStyle>
          <a:p>
            <a:r>
              <a:rPr lang="en-US" dirty="0"/>
              <a:t>Click to edit Master title style</a:t>
            </a:r>
          </a:p>
        </p:txBody>
      </p:sp>
      <p:sp>
        <p:nvSpPr>
          <p:cNvPr id="5" name="Date Placeholder 4">
            <a:extLst>
              <a:ext uri="{FF2B5EF4-FFF2-40B4-BE49-F238E27FC236}">
                <a16:creationId xmlns="" xmlns:a16="http://schemas.microsoft.com/office/drawing/2014/main" id="{CE7D1A7F-7373-3869-7B19-D11B972020F9}"/>
              </a:ext>
            </a:extLst>
          </p:cNvPr>
          <p:cNvSpPr>
            <a:spLocks noGrp="1"/>
          </p:cNvSpPr>
          <p:nvPr>
            <p:ph type="dt" sz="half" idx="10"/>
          </p:nvPr>
        </p:nvSpPr>
        <p:spPr>
          <a:xfrm>
            <a:off x="254475" y="6382786"/>
            <a:ext cx="2743200" cy="365125"/>
          </a:xfrm>
        </p:spPr>
        <p:txBody>
          <a:bodyPr/>
          <a:lstStyle>
            <a:lvl1pPr>
              <a:defRPr>
                <a:solidFill>
                  <a:schemeClr val="tx1"/>
                </a:solidFill>
              </a:defRPr>
            </a:lvl1pPr>
          </a:lstStyle>
          <a:p>
            <a:pPr>
              <a:defRPr/>
            </a:pPr>
            <a:fld id="{49954A08-F531-4BFB-B155-FB6526D1B190}" type="datetime3">
              <a:rPr lang="en-US" smtClean="0"/>
              <a:t>4 August 2026</a:t>
            </a:fld>
            <a:endParaRPr lang="en-US"/>
          </a:p>
        </p:txBody>
      </p:sp>
      <p:sp>
        <p:nvSpPr>
          <p:cNvPr id="10" name="Slide Number Placeholder 9">
            <a:extLst>
              <a:ext uri="{FF2B5EF4-FFF2-40B4-BE49-F238E27FC236}">
                <a16:creationId xmlns="" xmlns:a16="http://schemas.microsoft.com/office/drawing/2014/main" id="{C78AE685-7A90-7A5D-4D8F-1CB8728E0A51}"/>
              </a:ext>
            </a:extLst>
          </p:cNvPr>
          <p:cNvSpPr>
            <a:spLocks noGrp="1"/>
          </p:cNvSpPr>
          <p:nvPr>
            <p:ph type="sldNum" sz="quarter" idx="12"/>
          </p:nvPr>
        </p:nvSpPr>
        <p:spPr>
          <a:xfrm>
            <a:off x="9194324" y="6382786"/>
            <a:ext cx="2743200" cy="365125"/>
          </a:xfrm>
        </p:spPr>
        <p:txBody>
          <a:bodyPr/>
          <a:lstStyle>
            <a:lvl1pPr>
              <a:defRPr>
                <a:solidFill>
                  <a:schemeClr val="tx1"/>
                </a:solidFill>
              </a:defRPr>
            </a:lvl1pPr>
          </a:lstStyle>
          <a:p>
            <a:pPr>
              <a:defRPr/>
            </a:pPr>
            <a:endParaRPr lang="en-US" dirty="0"/>
          </a:p>
        </p:txBody>
      </p:sp>
      <p:sp>
        <p:nvSpPr>
          <p:cNvPr id="2" name="Footer Placeholder 4">
            <a:extLst>
              <a:ext uri="{FF2B5EF4-FFF2-40B4-BE49-F238E27FC236}">
                <a16:creationId xmlns="" xmlns:a16="http://schemas.microsoft.com/office/drawing/2014/main" id="{84B887BD-4322-C2D5-FA8B-30CE46F751AE}"/>
              </a:ext>
            </a:extLst>
          </p:cNvPr>
          <p:cNvSpPr>
            <a:spLocks noGrp="1"/>
          </p:cNvSpPr>
          <p:nvPr>
            <p:ph type="ftr" sz="quarter" idx="3"/>
          </p:nvPr>
        </p:nvSpPr>
        <p:spPr>
          <a:xfrm>
            <a:off x="3174023" y="6382785"/>
            <a:ext cx="5811715" cy="365125"/>
          </a:xfrm>
          <a:prstGeom prst="rect">
            <a:avLst/>
          </a:prstGeom>
        </p:spPr>
        <p:txBody>
          <a:bodyPr vert="horz" lIns="91440" tIns="45720" rIns="91440" bIns="45720" rtlCol="0" anchor="ctr"/>
          <a:lstStyle>
            <a:lvl1pPr algn="ctr">
              <a:defRPr sz="1200">
                <a:solidFill>
                  <a:schemeClr val="tx1"/>
                </a:solidFill>
              </a:defRPr>
            </a:lvl1pPr>
          </a:lstStyle>
          <a:p>
            <a:pPr>
              <a:defRPr/>
            </a:pPr>
            <a:r>
              <a:rPr lang="en-US"/>
              <a:t>REVA Academy for Corporate Excellence – RACE | race.reva.edu.in</a:t>
            </a:r>
            <a:endParaRPr lang="en-US" dirty="0"/>
          </a:p>
        </p:txBody>
      </p:sp>
    </p:spTree>
    <p:extLst>
      <p:ext uri="{BB962C8B-B14F-4D97-AF65-F5344CB8AC3E}">
        <p14:creationId xmlns:p14="http://schemas.microsoft.com/office/powerpoint/2010/main" val="641985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sp>
        <p:nvSpPr>
          <p:cNvPr id="2" name="Rectangle 1"/>
          <p:cNvSpPr/>
          <p:nvPr userDrawn="1"/>
        </p:nvSpPr>
        <p:spPr>
          <a:xfrm>
            <a:off x="254475" y="262783"/>
            <a:ext cx="3597858" cy="633243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spTree>
    <p:extLst>
      <p:ext uri="{BB962C8B-B14F-4D97-AF65-F5344CB8AC3E}">
        <p14:creationId xmlns:p14="http://schemas.microsoft.com/office/powerpoint/2010/main" val="3252866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sp>
        <p:nvSpPr>
          <p:cNvPr id="2" name="Rectangle 1"/>
          <p:cNvSpPr/>
          <p:nvPr userDrawn="1"/>
        </p:nvSpPr>
        <p:spPr>
          <a:xfrm>
            <a:off x="254475" y="262783"/>
            <a:ext cx="2686688" cy="633243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49803"/>
          <a:stretch/>
        </p:blipFill>
        <p:spPr>
          <a:xfrm>
            <a:off x="245097" y="1534163"/>
            <a:ext cx="2393627" cy="4768501"/>
          </a:xfrm>
          <a:prstGeom prst="rect">
            <a:avLst/>
          </a:prstGeom>
        </p:spPr>
      </p:pic>
    </p:spTree>
    <p:extLst>
      <p:ext uri="{BB962C8B-B14F-4D97-AF65-F5344CB8AC3E}">
        <p14:creationId xmlns:p14="http://schemas.microsoft.com/office/powerpoint/2010/main" val="3721393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CE08DDE-145F-4074-80B9-92A82F6FAE3F}"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3749735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324537-D8D1-48D3-974C-5042DA3C845D}"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623512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668FF8-54C7-4DF9-8A67-F38E35811078}"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3699446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C775388-B0D9-4736-A094-62A2D51967A2}"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320581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93D490C-FF0D-4F46-8C01-08A44D82182A}"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359969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8181D73-72B9-4F40-AAB3-13A26D710039}"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89495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9EB386-C260-4244-9F22-71C5BEEAC684}"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259018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3F87C7D-74E9-46ED-A87F-311C55ECC35B}"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420546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F6AC6E1-8710-4FFE-A2E3-E9AEBE0B5C21}"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49BB6-5787-495D-AC20-623BD900045B}"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2670059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1941E83-6A45-4B5F-90DA-DAF1AA28FCE9}" type="datetime3">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mn-ea"/>
                <a:cs typeface="Arial" panose="020B0604020202020204" pitchFamily="34" charset="0"/>
              </a:rPr>
              <a:t>4 August 2026</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rPr>
              <a:t>REVA Academy for Corporate Excellence – RACE | race.reva.edu.in</a:t>
            </a:r>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userDrawn="1"/>
        </p:nvPicPr>
        <p:blipFill>
          <a:blip r:embed="rId2"/>
          <a:stretch>
            <a:fillRect/>
          </a:stretch>
        </p:blipFill>
        <p:spPr>
          <a:xfrm>
            <a:off x="9191579" y="92974"/>
            <a:ext cx="2926334" cy="780356"/>
          </a:xfrm>
          <a:prstGeom prst="rect">
            <a:avLst/>
          </a:prstGeom>
        </p:spPr>
      </p:pic>
    </p:spTree>
    <p:extLst>
      <p:ext uri="{BB962C8B-B14F-4D97-AF65-F5344CB8AC3E}">
        <p14:creationId xmlns:p14="http://schemas.microsoft.com/office/powerpoint/2010/main" val="2469190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421C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sp>
        <p:nvSpPr>
          <p:cNvPr id="6" name="Rectangle 5"/>
          <p:cNvSpPr/>
          <p:nvPr userDrawn="1"/>
        </p:nvSpPr>
        <p:spPr>
          <a:xfrm>
            <a:off x="123825" y="138112"/>
            <a:ext cx="11944351" cy="6581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Slab"/>
              <a:ea typeface="+mn-ea"/>
              <a:cs typeface="+mn-cs"/>
            </a:endParaRPr>
          </a:p>
        </p:txBody>
      </p:sp>
      <p:cxnSp>
        <p:nvCxnSpPr>
          <p:cNvPr id="11" name="Straight Connector 10"/>
          <p:cNvCxnSpPr/>
          <p:nvPr userDrawn="1"/>
        </p:nvCxnSpPr>
        <p:spPr>
          <a:xfrm>
            <a:off x="403412" y="1049867"/>
            <a:ext cx="113652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3386667" y="379812"/>
            <a:ext cx="8382000" cy="670055"/>
          </a:xfrm>
        </p:spPr>
        <p:txBody>
          <a:bodyPr>
            <a:normAutofit/>
          </a:bodyPr>
          <a:lstStyle>
            <a:lvl1pPr algn="r">
              <a:defRPr sz="3600"/>
            </a:lvl1pPr>
          </a:lstStyle>
          <a:p>
            <a:r>
              <a:rPr lang="en-US" dirty="0"/>
              <a:t>Click to edit Master title style</a:t>
            </a:r>
          </a:p>
        </p:txBody>
      </p:sp>
    </p:spTree>
    <p:extLst>
      <p:ext uri="{BB962C8B-B14F-4D97-AF65-F5344CB8AC3E}">
        <p14:creationId xmlns:p14="http://schemas.microsoft.com/office/powerpoint/2010/main" val="48298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34AC64-A4F1-1B8A-0AC6-4786A9B97B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3AB1F2B5-8413-5EB3-B83E-FB83571002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D6D085EC-A9B6-5923-ED6D-895F6E8C457B}"/>
              </a:ext>
            </a:extLst>
          </p:cNvPr>
          <p:cNvSpPr>
            <a:spLocks noGrp="1"/>
          </p:cNvSpPr>
          <p:nvPr>
            <p:ph type="dt" sz="half" idx="10"/>
          </p:nvPr>
        </p:nvSpPr>
        <p:spPr/>
        <p:txBody>
          <a:bodyPr/>
          <a:lstStyle/>
          <a:p>
            <a:fld id="{A6B662C6-8A70-432E-A122-162871335AD1}" type="datetime3">
              <a:rPr lang="en-US" smtClean="0"/>
              <a:t>4 August 2026</a:t>
            </a:fld>
            <a:endParaRPr lang="en-IN"/>
          </a:p>
        </p:txBody>
      </p:sp>
      <p:sp>
        <p:nvSpPr>
          <p:cNvPr id="5" name="Footer Placeholder 4">
            <a:extLst>
              <a:ext uri="{FF2B5EF4-FFF2-40B4-BE49-F238E27FC236}">
                <a16:creationId xmlns="" xmlns:a16="http://schemas.microsoft.com/office/drawing/2014/main" id="{159C7944-D37B-7872-0157-363B93FA4199}"/>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 xmlns:a16="http://schemas.microsoft.com/office/drawing/2014/main" id="{DF0B8F9D-BD9A-C814-1FC1-B509D2613E5A}"/>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884675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F3B3BE-F57D-DA7E-5851-6DA98294F5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9F319E7-1597-B027-1498-94C3B6A095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396EB0F-2E52-724D-9781-0E75933C503B}"/>
              </a:ext>
            </a:extLst>
          </p:cNvPr>
          <p:cNvSpPr>
            <a:spLocks noGrp="1"/>
          </p:cNvSpPr>
          <p:nvPr>
            <p:ph type="dt" sz="half" idx="10"/>
          </p:nvPr>
        </p:nvSpPr>
        <p:spPr/>
        <p:txBody>
          <a:bodyPr/>
          <a:lstStyle/>
          <a:p>
            <a:fld id="{535C51BE-ECC1-48F5-8723-A0461878BE14}" type="datetime3">
              <a:rPr lang="en-US" smtClean="0"/>
              <a:t>4 August 2026</a:t>
            </a:fld>
            <a:endParaRPr lang="en-IN"/>
          </a:p>
        </p:txBody>
      </p:sp>
      <p:sp>
        <p:nvSpPr>
          <p:cNvPr id="5" name="Footer Placeholder 4">
            <a:extLst>
              <a:ext uri="{FF2B5EF4-FFF2-40B4-BE49-F238E27FC236}">
                <a16:creationId xmlns="" xmlns:a16="http://schemas.microsoft.com/office/drawing/2014/main" id="{C8774792-13F4-3FF3-4F7A-8EED062BA5DC}"/>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 xmlns:a16="http://schemas.microsoft.com/office/drawing/2014/main" id="{88960C60-0F54-2F6B-2CEE-9E0E0156D928}"/>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5002595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D0984D-EBB1-09FC-80CF-76E77B02C5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CD724C25-3780-0A64-BC51-7E73C81F5B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8554AC3-B0FD-3951-035E-D08C4C90D8DF}"/>
              </a:ext>
            </a:extLst>
          </p:cNvPr>
          <p:cNvSpPr>
            <a:spLocks noGrp="1"/>
          </p:cNvSpPr>
          <p:nvPr>
            <p:ph type="dt" sz="half" idx="10"/>
          </p:nvPr>
        </p:nvSpPr>
        <p:spPr/>
        <p:txBody>
          <a:bodyPr/>
          <a:lstStyle/>
          <a:p>
            <a:fld id="{76238A72-2DDC-4F0C-A767-031A00DA58F0}" type="datetime3">
              <a:rPr lang="en-US" smtClean="0"/>
              <a:t>4 August 2026</a:t>
            </a:fld>
            <a:endParaRPr lang="en-IN"/>
          </a:p>
        </p:txBody>
      </p:sp>
      <p:sp>
        <p:nvSpPr>
          <p:cNvPr id="5" name="Footer Placeholder 4">
            <a:extLst>
              <a:ext uri="{FF2B5EF4-FFF2-40B4-BE49-F238E27FC236}">
                <a16:creationId xmlns="" xmlns:a16="http://schemas.microsoft.com/office/drawing/2014/main" id="{2322F70A-B226-43F3-56D5-B4DDFE43065A}"/>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 xmlns:a16="http://schemas.microsoft.com/office/drawing/2014/main" id="{043E0301-4A22-9AA8-709D-332E1C901F53}"/>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972264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3B3474-1720-0F74-B17B-E84FC50CA5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8015A8F-9597-F873-5200-2938A5DCD8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132D42FB-4CF6-A56B-4859-4B6AFA3004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AA327CD2-F085-A433-6B21-C4760E9C0DA0}"/>
              </a:ext>
            </a:extLst>
          </p:cNvPr>
          <p:cNvSpPr>
            <a:spLocks noGrp="1"/>
          </p:cNvSpPr>
          <p:nvPr>
            <p:ph type="dt" sz="half" idx="10"/>
          </p:nvPr>
        </p:nvSpPr>
        <p:spPr/>
        <p:txBody>
          <a:bodyPr/>
          <a:lstStyle/>
          <a:p>
            <a:fld id="{2366CC46-76C0-4E18-84BB-05A13C50C19C}" type="datetime3">
              <a:rPr lang="en-US" smtClean="0"/>
              <a:t>4 August 2026</a:t>
            </a:fld>
            <a:endParaRPr lang="en-IN"/>
          </a:p>
        </p:txBody>
      </p:sp>
      <p:sp>
        <p:nvSpPr>
          <p:cNvPr id="6" name="Footer Placeholder 5">
            <a:extLst>
              <a:ext uri="{FF2B5EF4-FFF2-40B4-BE49-F238E27FC236}">
                <a16:creationId xmlns="" xmlns:a16="http://schemas.microsoft.com/office/drawing/2014/main" id="{271470E5-5BAD-34BF-D5D7-3563FEF90C22}"/>
              </a:ext>
            </a:extLst>
          </p:cNvPr>
          <p:cNvSpPr>
            <a:spLocks noGrp="1"/>
          </p:cNvSpPr>
          <p:nvPr>
            <p:ph type="ftr" sz="quarter" idx="11"/>
          </p:nvPr>
        </p:nvSpPr>
        <p:spPr/>
        <p:txBody>
          <a:bodyPr/>
          <a:lstStyle/>
          <a:p>
            <a:r>
              <a:rPr lang="en-US"/>
              <a:t>REVA Academy for Corporate Excellence – RACE | race.reva.edu.in</a:t>
            </a:r>
            <a:endParaRPr lang="en-IN"/>
          </a:p>
        </p:txBody>
      </p:sp>
      <p:sp>
        <p:nvSpPr>
          <p:cNvPr id="7" name="Slide Number Placeholder 6">
            <a:extLst>
              <a:ext uri="{FF2B5EF4-FFF2-40B4-BE49-F238E27FC236}">
                <a16:creationId xmlns="" xmlns:a16="http://schemas.microsoft.com/office/drawing/2014/main" id="{4F0492B8-D262-2FDF-B614-AB43A7AE82CD}"/>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6363948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41B646-8096-67E5-4529-BDB03D9A388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BAAAA4A-47B0-B186-D66C-512D48A55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62F622B-39F0-438B-DE66-A663E1714D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62C4984E-0678-0232-E59D-C531B6EB17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A3725E2-31E5-81AE-22CD-2CF48F4BCB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EB4A57D5-B59F-AA5C-531D-FDF65C1009DA}"/>
              </a:ext>
            </a:extLst>
          </p:cNvPr>
          <p:cNvSpPr>
            <a:spLocks noGrp="1"/>
          </p:cNvSpPr>
          <p:nvPr>
            <p:ph type="dt" sz="half" idx="10"/>
          </p:nvPr>
        </p:nvSpPr>
        <p:spPr/>
        <p:txBody>
          <a:bodyPr/>
          <a:lstStyle/>
          <a:p>
            <a:fld id="{B83DFB99-E076-4686-8771-D9C9ED280317}" type="datetime3">
              <a:rPr lang="en-US" smtClean="0"/>
              <a:t>4 August 2026</a:t>
            </a:fld>
            <a:endParaRPr lang="en-IN"/>
          </a:p>
        </p:txBody>
      </p:sp>
      <p:sp>
        <p:nvSpPr>
          <p:cNvPr id="8" name="Footer Placeholder 7">
            <a:extLst>
              <a:ext uri="{FF2B5EF4-FFF2-40B4-BE49-F238E27FC236}">
                <a16:creationId xmlns="" xmlns:a16="http://schemas.microsoft.com/office/drawing/2014/main" id="{08848A68-6C29-6841-3EA0-D24768818D93}"/>
              </a:ext>
            </a:extLst>
          </p:cNvPr>
          <p:cNvSpPr>
            <a:spLocks noGrp="1"/>
          </p:cNvSpPr>
          <p:nvPr>
            <p:ph type="ftr" sz="quarter" idx="11"/>
          </p:nvPr>
        </p:nvSpPr>
        <p:spPr/>
        <p:txBody>
          <a:bodyPr/>
          <a:lstStyle/>
          <a:p>
            <a:r>
              <a:rPr lang="en-US"/>
              <a:t>REVA Academy for Corporate Excellence – RACE | race.reva.edu.in</a:t>
            </a:r>
            <a:endParaRPr lang="en-IN"/>
          </a:p>
        </p:txBody>
      </p:sp>
      <p:sp>
        <p:nvSpPr>
          <p:cNvPr id="9" name="Slide Number Placeholder 8">
            <a:extLst>
              <a:ext uri="{FF2B5EF4-FFF2-40B4-BE49-F238E27FC236}">
                <a16:creationId xmlns="" xmlns:a16="http://schemas.microsoft.com/office/drawing/2014/main" id="{772F046F-B9C5-2135-5E78-55B99B64A148}"/>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3340873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1212CE-8E63-DE47-926A-2806046A57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CC88DACC-A9CF-25B8-FADB-EF71DAB09B5D}"/>
              </a:ext>
            </a:extLst>
          </p:cNvPr>
          <p:cNvSpPr>
            <a:spLocks noGrp="1"/>
          </p:cNvSpPr>
          <p:nvPr>
            <p:ph type="dt" sz="half" idx="10"/>
          </p:nvPr>
        </p:nvSpPr>
        <p:spPr/>
        <p:txBody>
          <a:bodyPr/>
          <a:lstStyle/>
          <a:p>
            <a:fld id="{133C4A86-EE5E-430A-B201-DD153C1D7118}" type="datetime3">
              <a:rPr lang="en-US" smtClean="0"/>
              <a:t>4 August 2026</a:t>
            </a:fld>
            <a:endParaRPr lang="en-IN"/>
          </a:p>
        </p:txBody>
      </p:sp>
      <p:sp>
        <p:nvSpPr>
          <p:cNvPr id="4" name="Footer Placeholder 3">
            <a:extLst>
              <a:ext uri="{FF2B5EF4-FFF2-40B4-BE49-F238E27FC236}">
                <a16:creationId xmlns="" xmlns:a16="http://schemas.microsoft.com/office/drawing/2014/main" id="{F0E3D948-3FD6-54EB-FA88-0A79DFDE04C2}"/>
              </a:ext>
            </a:extLst>
          </p:cNvPr>
          <p:cNvSpPr>
            <a:spLocks noGrp="1"/>
          </p:cNvSpPr>
          <p:nvPr>
            <p:ph type="ftr" sz="quarter" idx="11"/>
          </p:nvPr>
        </p:nvSpPr>
        <p:spPr/>
        <p:txBody>
          <a:bodyPr/>
          <a:lstStyle/>
          <a:p>
            <a:r>
              <a:rPr lang="en-US"/>
              <a:t>REVA Academy for Corporate Excellence – RACE | race.reva.edu.in</a:t>
            </a:r>
            <a:endParaRPr lang="en-IN"/>
          </a:p>
        </p:txBody>
      </p:sp>
      <p:sp>
        <p:nvSpPr>
          <p:cNvPr id="5" name="Slide Number Placeholder 4">
            <a:extLst>
              <a:ext uri="{FF2B5EF4-FFF2-40B4-BE49-F238E27FC236}">
                <a16:creationId xmlns="" xmlns:a16="http://schemas.microsoft.com/office/drawing/2014/main" id="{7B42A27F-E85E-D7BE-820F-5D7F4EA3A5D6}"/>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3287177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FC4A645-4076-0DD1-F21F-7DA2E7DBEC8E}"/>
              </a:ext>
            </a:extLst>
          </p:cNvPr>
          <p:cNvSpPr>
            <a:spLocks noGrp="1"/>
          </p:cNvSpPr>
          <p:nvPr>
            <p:ph type="dt" sz="half" idx="10"/>
          </p:nvPr>
        </p:nvSpPr>
        <p:spPr/>
        <p:txBody>
          <a:bodyPr/>
          <a:lstStyle/>
          <a:p>
            <a:fld id="{BA0F3B7A-C703-449C-9BCB-CEBE69179CE9}" type="datetime3">
              <a:rPr lang="en-US" smtClean="0"/>
              <a:t>4 August 2026</a:t>
            </a:fld>
            <a:endParaRPr lang="en-IN"/>
          </a:p>
        </p:txBody>
      </p:sp>
      <p:sp>
        <p:nvSpPr>
          <p:cNvPr id="3" name="Footer Placeholder 2">
            <a:extLst>
              <a:ext uri="{FF2B5EF4-FFF2-40B4-BE49-F238E27FC236}">
                <a16:creationId xmlns="" xmlns:a16="http://schemas.microsoft.com/office/drawing/2014/main" id="{8C396299-65B8-236C-5185-326DF6281CE8}"/>
              </a:ext>
            </a:extLst>
          </p:cNvPr>
          <p:cNvSpPr>
            <a:spLocks noGrp="1"/>
          </p:cNvSpPr>
          <p:nvPr>
            <p:ph type="ftr" sz="quarter" idx="11"/>
          </p:nvPr>
        </p:nvSpPr>
        <p:spPr/>
        <p:txBody>
          <a:bodyPr/>
          <a:lstStyle/>
          <a:p>
            <a:r>
              <a:rPr lang="en-US"/>
              <a:t>REVA Academy for Corporate Excellence – RACE | race.reva.edu.in</a:t>
            </a:r>
            <a:endParaRPr lang="en-IN"/>
          </a:p>
        </p:txBody>
      </p:sp>
      <p:sp>
        <p:nvSpPr>
          <p:cNvPr id="4" name="Slide Number Placeholder 3">
            <a:extLst>
              <a:ext uri="{FF2B5EF4-FFF2-40B4-BE49-F238E27FC236}">
                <a16:creationId xmlns="" xmlns:a16="http://schemas.microsoft.com/office/drawing/2014/main" id="{D82C14A8-2899-01EE-55FF-D21207C4938D}"/>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16406766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E489C4-3A76-6231-0EB8-B7C0DF9B01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D70766E-B614-6E76-EE88-55095546DC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30F98D78-1D4B-6D37-81ED-B8EA609694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B49C743-95E7-DA77-7E6B-91D4BDC2902D}"/>
              </a:ext>
            </a:extLst>
          </p:cNvPr>
          <p:cNvSpPr>
            <a:spLocks noGrp="1"/>
          </p:cNvSpPr>
          <p:nvPr>
            <p:ph type="dt" sz="half" idx="10"/>
          </p:nvPr>
        </p:nvSpPr>
        <p:spPr/>
        <p:txBody>
          <a:bodyPr/>
          <a:lstStyle/>
          <a:p>
            <a:fld id="{DA96A2E3-21D6-49A4-B7BE-5081A6C2E030}" type="datetime3">
              <a:rPr lang="en-US" smtClean="0"/>
              <a:t>4 August 2026</a:t>
            </a:fld>
            <a:endParaRPr lang="en-IN"/>
          </a:p>
        </p:txBody>
      </p:sp>
      <p:sp>
        <p:nvSpPr>
          <p:cNvPr id="6" name="Footer Placeholder 5">
            <a:extLst>
              <a:ext uri="{FF2B5EF4-FFF2-40B4-BE49-F238E27FC236}">
                <a16:creationId xmlns="" xmlns:a16="http://schemas.microsoft.com/office/drawing/2014/main" id="{2B7D41F0-E639-1C42-61E6-67955F562A96}"/>
              </a:ext>
            </a:extLst>
          </p:cNvPr>
          <p:cNvSpPr>
            <a:spLocks noGrp="1"/>
          </p:cNvSpPr>
          <p:nvPr>
            <p:ph type="ftr" sz="quarter" idx="11"/>
          </p:nvPr>
        </p:nvSpPr>
        <p:spPr/>
        <p:txBody>
          <a:bodyPr/>
          <a:lstStyle/>
          <a:p>
            <a:r>
              <a:rPr lang="en-US"/>
              <a:t>REVA Academy for Corporate Excellence – RACE | race.reva.edu.in</a:t>
            </a:r>
            <a:endParaRPr lang="en-IN"/>
          </a:p>
        </p:txBody>
      </p:sp>
      <p:sp>
        <p:nvSpPr>
          <p:cNvPr id="7" name="Slide Number Placeholder 6">
            <a:extLst>
              <a:ext uri="{FF2B5EF4-FFF2-40B4-BE49-F238E27FC236}">
                <a16:creationId xmlns="" xmlns:a16="http://schemas.microsoft.com/office/drawing/2014/main" id="{C22EF771-7E4C-27D5-A567-4DF5D5BF6DAE}"/>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12018110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A3586A-A7F3-4A9F-305E-21667DAD2E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571AD13B-C499-3285-F0C2-B5D8500EB8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3567E8D0-3A04-7DF5-1548-144A954F01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E4F97146-77A6-BBD1-81B6-2FBA1D87B082}"/>
              </a:ext>
            </a:extLst>
          </p:cNvPr>
          <p:cNvSpPr>
            <a:spLocks noGrp="1"/>
          </p:cNvSpPr>
          <p:nvPr>
            <p:ph type="dt" sz="half" idx="10"/>
          </p:nvPr>
        </p:nvSpPr>
        <p:spPr/>
        <p:txBody>
          <a:bodyPr/>
          <a:lstStyle/>
          <a:p>
            <a:fld id="{693C6AB8-E909-429F-ABE1-7FDF375A8A24}" type="datetime3">
              <a:rPr lang="en-US" smtClean="0"/>
              <a:t>4 August 2026</a:t>
            </a:fld>
            <a:endParaRPr lang="en-IN"/>
          </a:p>
        </p:txBody>
      </p:sp>
      <p:sp>
        <p:nvSpPr>
          <p:cNvPr id="6" name="Footer Placeholder 5">
            <a:extLst>
              <a:ext uri="{FF2B5EF4-FFF2-40B4-BE49-F238E27FC236}">
                <a16:creationId xmlns="" xmlns:a16="http://schemas.microsoft.com/office/drawing/2014/main" id="{BAD01874-D9CC-80C3-6645-94CF4362A3CB}"/>
              </a:ext>
            </a:extLst>
          </p:cNvPr>
          <p:cNvSpPr>
            <a:spLocks noGrp="1"/>
          </p:cNvSpPr>
          <p:nvPr>
            <p:ph type="ftr" sz="quarter" idx="11"/>
          </p:nvPr>
        </p:nvSpPr>
        <p:spPr/>
        <p:txBody>
          <a:bodyPr/>
          <a:lstStyle/>
          <a:p>
            <a:r>
              <a:rPr lang="en-US"/>
              <a:t>REVA Academy for Corporate Excellence – RACE | race.reva.edu.in</a:t>
            </a:r>
            <a:endParaRPr lang="en-IN"/>
          </a:p>
        </p:txBody>
      </p:sp>
      <p:sp>
        <p:nvSpPr>
          <p:cNvPr id="7" name="Slide Number Placeholder 6">
            <a:extLst>
              <a:ext uri="{FF2B5EF4-FFF2-40B4-BE49-F238E27FC236}">
                <a16:creationId xmlns="" xmlns:a16="http://schemas.microsoft.com/office/drawing/2014/main" id="{05CACB1A-E2BD-5A9B-ACEB-ACE55378A27C}"/>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20233519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3E948CF-E4AA-AE25-988E-9AF6DED051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3AE07B0-B5FB-7F01-D1C7-8FD401701F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2CF934E-37C1-DF05-2785-927F20E5C83A}"/>
              </a:ext>
            </a:extLst>
          </p:cNvPr>
          <p:cNvSpPr>
            <a:spLocks noGrp="1"/>
          </p:cNvSpPr>
          <p:nvPr>
            <p:ph type="dt" sz="half" idx="10"/>
          </p:nvPr>
        </p:nvSpPr>
        <p:spPr/>
        <p:txBody>
          <a:bodyPr/>
          <a:lstStyle/>
          <a:p>
            <a:fld id="{5E53A0AB-A797-49F1-91CA-409B68B2BAD3}" type="datetime3">
              <a:rPr lang="en-US" smtClean="0"/>
              <a:t>4 August 2026</a:t>
            </a:fld>
            <a:endParaRPr lang="en-IN"/>
          </a:p>
        </p:txBody>
      </p:sp>
      <p:sp>
        <p:nvSpPr>
          <p:cNvPr id="5" name="Footer Placeholder 4">
            <a:extLst>
              <a:ext uri="{FF2B5EF4-FFF2-40B4-BE49-F238E27FC236}">
                <a16:creationId xmlns="" xmlns:a16="http://schemas.microsoft.com/office/drawing/2014/main" id="{2186E886-8046-0491-18E0-C7DA49967E7F}"/>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 xmlns:a16="http://schemas.microsoft.com/office/drawing/2014/main" id="{17AE8017-6C16-A82D-097D-828555708C9A}"/>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36648373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32A64DB-7E8E-77AA-AABA-01287D38E8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ECE38464-7BCC-168D-22E1-3396237C3F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2CF9B8F-0D16-DFC3-1252-12480851D0A4}"/>
              </a:ext>
            </a:extLst>
          </p:cNvPr>
          <p:cNvSpPr>
            <a:spLocks noGrp="1"/>
          </p:cNvSpPr>
          <p:nvPr>
            <p:ph type="dt" sz="half" idx="10"/>
          </p:nvPr>
        </p:nvSpPr>
        <p:spPr/>
        <p:txBody>
          <a:bodyPr/>
          <a:lstStyle/>
          <a:p>
            <a:fld id="{4DAD4285-B41F-4602-8FE6-74B6B1A68E7C}" type="datetime3">
              <a:rPr lang="en-US" smtClean="0"/>
              <a:t>4 August 2026</a:t>
            </a:fld>
            <a:endParaRPr lang="en-IN"/>
          </a:p>
        </p:txBody>
      </p:sp>
      <p:sp>
        <p:nvSpPr>
          <p:cNvPr id="5" name="Footer Placeholder 4">
            <a:extLst>
              <a:ext uri="{FF2B5EF4-FFF2-40B4-BE49-F238E27FC236}">
                <a16:creationId xmlns="" xmlns:a16="http://schemas.microsoft.com/office/drawing/2014/main" id="{5331CA6E-6281-CC49-2B16-DD159250C466}"/>
              </a:ext>
            </a:extLst>
          </p:cNvPr>
          <p:cNvSpPr>
            <a:spLocks noGrp="1"/>
          </p:cNvSpPr>
          <p:nvPr>
            <p:ph type="ftr" sz="quarter" idx="11"/>
          </p:nvPr>
        </p:nvSpPr>
        <p:spPr/>
        <p:txBody>
          <a:bodyPr/>
          <a:lstStyle/>
          <a:p>
            <a:r>
              <a:rPr lang="en-US"/>
              <a:t>REVA Academy for Corporate Excellence – RACE | race.reva.edu.in</a:t>
            </a:r>
            <a:endParaRPr lang="en-IN"/>
          </a:p>
        </p:txBody>
      </p:sp>
      <p:sp>
        <p:nvSpPr>
          <p:cNvPr id="6" name="Slide Number Placeholder 5">
            <a:extLst>
              <a:ext uri="{FF2B5EF4-FFF2-40B4-BE49-F238E27FC236}">
                <a16:creationId xmlns="" xmlns:a16="http://schemas.microsoft.com/office/drawing/2014/main" id="{EDB0E7C1-2CA7-5D69-31E0-2E3ED2E15554}"/>
              </a:ext>
            </a:extLst>
          </p:cNvPr>
          <p:cNvSpPr>
            <a:spLocks noGrp="1"/>
          </p:cNvSpPr>
          <p:nvPr>
            <p:ph type="sldNum" sz="quarter" idx="12"/>
          </p:nvPr>
        </p:nvSpPr>
        <p:spPr/>
        <p:txBody>
          <a:bodyPr/>
          <a:lstStyle/>
          <a:p>
            <a:fld id="{7F57AB3F-FF13-4C22-A1FE-9E11B92D325E}" type="slidenum">
              <a:rPr lang="en-IN" smtClean="0"/>
              <a:t>‹#›</a:t>
            </a:fld>
            <a:endParaRPr lang="en-IN"/>
          </a:p>
        </p:txBody>
      </p:sp>
    </p:spTree>
    <p:extLst>
      <p:ext uri="{BB962C8B-B14F-4D97-AF65-F5344CB8AC3E}">
        <p14:creationId xmlns:p14="http://schemas.microsoft.com/office/powerpoint/2010/main" val="6657071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01" preserve="1" userDrawn="1">
  <p:cSld name="2_01">
    <p:spTree>
      <p:nvGrpSpPr>
        <p:cNvPr id="1" name="Shape 12"/>
        <p:cNvGrpSpPr/>
        <p:nvPr/>
      </p:nvGrpSpPr>
      <p:grpSpPr>
        <a:xfrm>
          <a:off x="0" y="0"/>
          <a:ext cx="0" cy="0"/>
          <a:chOff x="0" y="0"/>
          <a:chExt cx="0" cy="0"/>
        </a:xfrm>
      </p:grpSpPr>
      <p:cxnSp>
        <p:nvCxnSpPr>
          <p:cNvPr id="12" name="Straight Connector 11"/>
          <p:cNvCxnSpPr/>
          <p:nvPr userDrawn="1"/>
        </p:nvCxnSpPr>
        <p:spPr>
          <a:xfrm>
            <a:off x="197815" y="1166622"/>
            <a:ext cx="117963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5514882" y="393267"/>
            <a:ext cx="6479305" cy="492443"/>
          </a:xfrm>
          <a:prstGeom prst="rect">
            <a:avLst/>
          </a:prstGeom>
          <a:noFill/>
        </p:spPr>
        <p:txBody>
          <a:bodyPr wrap="square" rtlCol="0">
            <a:spAutoFit/>
          </a:bodyPr>
          <a:lstStyle/>
          <a:p>
            <a:pPr algn="r"/>
            <a:r>
              <a:rPr lang="en-IN" sz="1400" dirty="0">
                <a:latin typeface="+mj-lt"/>
              </a:rPr>
              <a:t>REVA Academy</a:t>
            </a:r>
            <a:r>
              <a:rPr lang="en-IN" sz="1400" baseline="0" dirty="0">
                <a:latin typeface="+mj-lt"/>
              </a:rPr>
              <a:t> for Corporate Excellence</a:t>
            </a:r>
          </a:p>
          <a:p>
            <a:pPr algn="r"/>
            <a:r>
              <a:rPr lang="en-IN" sz="1200" baseline="0" dirty="0">
                <a:latin typeface="+mj-lt"/>
              </a:rPr>
              <a:t>www.race.reva.edu.in </a:t>
            </a:r>
            <a:endParaRPr lang="en-IN" sz="1200" dirty="0">
              <a:latin typeface="+mj-lt"/>
            </a:endParaRP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7815" y="143294"/>
            <a:ext cx="2444405" cy="946221"/>
          </a:xfrm>
          <a:prstGeom prst="rect">
            <a:avLst/>
          </a:prstGeom>
        </p:spPr>
      </p:pic>
    </p:spTree>
    <p:extLst>
      <p:ext uri="{BB962C8B-B14F-4D97-AF65-F5344CB8AC3E}">
        <p14:creationId xmlns:p14="http://schemas.microsoft.com/office/powerpoint/2010/main" val="15991285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77889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2060136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lvl1pPr>
              <a:defRPr>
                <a:latin typeface="Arial" panose="020B0604020202020204" pitchFamily="34" charset="0"/>
                <a:cs typeface="Arial" panose="020B0604020202020204" pitchFamily="34" charset="0"/>
              </a:defRPr>
            </a:lvl1pPr>
          </a:lstStyle>
          <a:p>
            <a:fld id="{0D0CCA17-D100-45DE-A2F3-E686E13D4486}" type="slidenum">
              <a:rPr lang="en-US" smtClean="0"/>
              <a:pPr/>
              <a:t>‹#›</a:t>
            </a:fld>
            <a:endParaRPr lang="en-US"/>
          </a:p>
        </p:txBody>
      </p:sp>
      <p:pic>
        <p:nvPicPr>
          <p:cNvPr id="8" name="Picture 7"/>
          <p:cNvPicPr>
            <a:picLocks noChangeAspect="1"/>
          </p:cNvPicPr>
          <p:nvPr userDrawn="1"/>
        </p:nvPicPr>
        <p:blipFill>
          <a:blip r:embed="rId2"/>
          <a:stretch>
            <a:fillRect/>
          </a:stretch>
        </p:blipFill>
        <p:spPr>
          <a:xfrm>
            <a:off x="9540239" y="16774"/>
            <a:ext cx="2577673" cy="687380"/>
          </a:xfrm>
          <a:prstGeom prst="rect">
            <a:avLst/>
          </a:prstGeom>
        </p:spPr>
      </p:pic>
      <p:sp>
        <p:nvSpPr>
          <p:cNvPr id="9"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29086719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p:cNvPicPr>
            <a:picLocks noChangeAspect="1"/>
          </p:cNvPicPr>
          <p:nvPr userDrawn="1"/>
        </p:nvPicPr>
        <p:blipFill>
          <a:blip r:embed="rId2"/>
          <a:stretch>
            <a:fillRect/>
          </a:stretch>
        </p:blipFill>
        <p:spPr>
          <a:xfrm>
            <a:off x="9631680" y="1534"/>
            <a:ext cx="2566262" cy="684266"/>
          </a:xfrm>
          <a:prstGeom prst="rect">
            <a:avLst/>
          </a:prstGeom>
        </p:spPr>
      </p:pic>
      <p:sp>
        <p:nvSpPr>
          <p:cNvPr id="9" name="Footer Placeholder 4"/>
          <p:cNvSpPr>
            <a:spLocks noGrp="1"/>
          </p:cNvSpPr>
          <p:nvPr>
            <p:ph type="ftr" sz="quarter" idx="10"/>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11391503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6" name="Picture 5"/>
          <p:cNvPicPr>
            <a:picLocks noChangeAspect="1"/>
          </p:cNvPicPr>
          <p:nvPr userDrawn="1"/>
        </p:nvPicPr>
        <p:blipFill>
          <a:blip r:embed="rId2"/>
          <a:stretch>
            <a:fillRect/>
          </a:stretch>
        </p:blipFill>
        <p:spPr>
          <a:xfrm>
            <a:off x="9707879" y="32014"/>
            <a:ext cx="2407921" cy="642113"/>
          </a:xfrm>
          <a:prstGeom prst="rect">
            <a:avLst/>
          </a:prstGeom>
        </p:spPr>
      </p:pic>
      <p:sp>
        <p:nvSpPr>
          <p:cNvPr id="7"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9792616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9540240" y="32014"/>
            <a:ext cx="2608152" cy="695508"/>
          </a:xfrm>
          <a:prstGeom prst="rect">
            <a:avLst/>
          </a:prstGeom>
        </p:spPr>
      </p:pic>
      <p:sp>
        <p:nvSpPr>
          <p:cNvPr id="4" name="Footer Placeholder 4"/>
          <p:cNvSpPr>
            <a:spLocks noGrp="1"/>
          </p:cNvSpPr>
          <p:nvPr>
            <p:ph type="ftr" sz="quarter" idx="3"/>
          </p:nvPr>
        </p:nvSpPr>
        <p:spPr>
          <a:xfrm>
            <a:off x="0" y="6555993"/>
            <a:ext cx="3840480" cy="302007"/>
          </a:xfrm>
          <a:prstGeom prst="rect">
            <a:avLst/>
          </a:prstGeom>
          <a:solidFill>
            <a:schemeClr val="bg1"/>
          </a:solidFill>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IN"/>
              <a:t>REVA Academy for Corporate Excellence – RACE | race.reva.edu.in</a:t>
            </a:r>
            <a:endParaRPr lang="en-US" dirty="0"/>
          </a:p>
        </p:txBody>
      </p:sp>
    </p:spTree>
    <p:extLst>
      <p:ext uri="{BB962C8B-B14F-4D97-AF65-F5344CB8AC3E}">
        <p14:creationId xmlns:p14="http://schemas.microsoft.com/office/powerpoint/2010/main" val="18326267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2_Main Slide #2">
    <p:spTree>
      <p:nvGrpSpPr>
        <p:cNvPr id="1" name=""/>
        <p:cNvGrpSpPr/>
        <p:nvPr/>
      </p:nvGrpSpPr>
      <p:grpSpPr>
        <a:xfrm>
          <a:off x="0" y="0"/>
          <a:ext cx="0" cy="0"/>
          <a:chOff x="0" y="0"/>
          <a:chExt cx="0" cy="0"/>
        </a:xfrm>
      </p:grpSpPr>
      <p:sp>
        <p:nvSpPr>
          <p:cNvPr id="31" name="www.websitename.com"/>
          <p:cNvSpPr txBox="1">
            <a:spLocks noGrp="1"/>
          </p:cNvSpPr>
          <p:nvPr>
            <p:ph type="body" sz="quarter" idx="13"/>
          </p:nvPr>
        </p:nvSpPr>
        <p:spPr>
          <a:xfrm rot="16200000">
            <a:off x="11153149" y="3366675"/>
            <a:ext cx="1442703" cy="124650"/>
          </a:xfrm>
          <a:prstGeom prst="rect">
            <a:avLst/>
          </a:prstGeom>
        </p:spPr>
        <p:txBody>
          <a:bodyPr wrap="none" lIns="0" tIns="0" rIns="0" bIns="0" anchor="ctr">
            <a:spAutoFit/>
          </a:bodyPr>
          <a:lstStyle>
            <a:lvl1pPr>
              <a:defRPr sz="900">
                <a:solidFill>
                  <a:srgbClr val="6A6E77"/>
                </a:solidFill>
                <a:latin typeface="Montserrat Light"/>
                <a:ea typeface="Montserrat Light"/>
                <a:cs typeface="Montserrat Light"/>
                <a:sym typeface="Montserrat Light"/>
              </a:defRPr>
            </a:lvl1pPr>
          </a:lstStyle>
          <a:p>
            <a:r>
              <a:t>www.websitename.com</a:t>
            </a:r>
          </a:p>
        </p:txBody>
      </p:sp>
      <p:sp>
        <p:nvSpPr>
          <p:cNvPr id="32" name="uplock"/>
          <p:cNvSpPr txBox="1">
            <a:spLocks noGrp="1"/>
          </p:cNvSpPr>
          <p:nvPr>
            <p:ph type="body" sz="quarter" idx="14"/>
          </p:nvPr>
        </p:nvSpPr>
        <p:spPr>
          <a:xfrm rot="16200000">
            <a:off x="-30351" y="3342438"/>
            <a:ext cx="695703" cy="173124"/>
          </a:xfrm>
          <a:prstGeom prst="rect">
            <a:avLst/>
          </a:prstGeom>
        </p:spPr>
        <p:txBody>
          <a:bodyPr wrap="none" lIns="0" tIns="0" rIns="0" bIns="0" anchor="ctr">
            <a:spAutoFit/>
          </a:bodyPr>
          <a:lstStyle>
            <a:lvl1pPr>
              <a:defRPr sz="1250">
                <a:solidFill>
                  <a:srgbClr val="1C1F25"/>
                </a:solidFill>
                <a:latin typeface="Montserrat Bold"/>
                <a:ea typeface="Montserrat Bold"/>
                <a:cs typeface="Montserrat Bold"/>
                <a:sym typeface="Montserrat Bold"/>
              </a:defRPr>
            </a:lvl1pPr>
          </a:lstStyle>
          <a:p>
            <a:r>
              <a:t>uplock</a:t>
            </a:r>
          </a:p>
        </p:txBody>
      </p:sp>
      <p:sp>
        <p:nvSpPr>
          <p:cNvPr id="33" name="Slide Number"/>
          <p:cNvSpPr txBox="1">
            <a:spLocks noGrp="1"/>
          </p:cNvSpPr>
          <p:nvPr>
            <p:ph type="sldNum" sz="quarter" idx="2"/>
          </p:nvPr>
        </p:nvSpPr>
        <p:spPr>
          <a:xfrm>
            <a:off x="11407421" y="6476735"/>
            <a:ext cx="147397" cy="139701"/>
          </a:xfrm>
          <a:prstGeom prst="rect">
            <a:avLst/>
          </a:prstGeom>
        </p:spPr>
        <p:txBody>
          <a:bodyPr/>
          <a:lstStyle/>
          <a:p>
            <a:fld id="{86CB4B4D-7CA3-9044-876B-883B54F8677D}" type="slidenum">
              <a:t>‹#›</a:t>
            </a:fld>
            <a:endParaRPr/>
          </a:p>
        </p:txBody>
      </p:sp>
      <p:sp>
        <p:nvSpPr>
          <p:cNvPr id="7" name="Picture Placeholder 2">
            <a:extLst>
              <a:ext uri="{FF2B5EF4-FFF2-40B4-BE49-F238E27FC236}">
                <a16:creationId xmlns="" xmlns:a16="http://schemas.microsoft.com/office/drawing/2014/main" id="{C1CFBFE9-716E-4CC4-9BA2-ADF2F90D6429}"/>
              </a:ext>
            </a:extLst>
          </p:cNvPr>
          <p:cNvSpPr>
            <a:spLocks noGrp="1"/>
          </p:cNvSpPr>
          <p:nvPr>
            <p:ph type="pic" sz="quarter" idx="32" hasCustomPrompt="1"/>
          </p:nvPr>
        </p:nvSpPr>
        <p:spPr>
          <a:xfrm>
            <a:off x="633909" y="1"/>
            <a:ext cx="2731691" cy="6858000"/>
          </a:xfrm>
          <a:prstGeom prst="rect">
            <a:avLst/>
          </a:prstGeom>
          <a:solidFill>
            <a:schemeClr val="bg1">
              <a:lumMod val="95000"/>
            </a:schemeClr>
          </a:solidFill>
        </p:spPr>
        <p:txBody>
          <a:bodyPr anchor="ctr"/>
          <a:lstStyle>
            <a:lvl1pPr>
              <a:defRPr sz="1000"/>
            </a:lvl1pPr>
          </a:lstStyle>
          <a:p>
            <a:r>
              <a:rPr lang="en-US" dirty="0"/>
              <a:t>Click to Insert Image</a:t>
            </a:r>
          </a:p>
        </p:txBody>
      </p:sp>
    </p:spTree>
    <p:extLst>
      <p:ext uri="{BB962C8B-B14F-4D97-AF65-F5344CB8AC3E}">
        <p14:creationId xmlns:p14="http://schemas.microsoft.com/office/powerpoint/2010/main" val="405285025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70"/>
            <a:ext cx="12192000" cy="6855461"/>
          </a:xfrm>
          <a:prstGeom prst="rect">
            <a:avLst/>
          </a:prstGeom>
        </p:spPr>
      </p:pic>
      <p:grpSp>
        <p:nvGrpSpPr>
          <p:cNvPr id="16" name="Group 15"/>
          <p:cNvGrpSpPr/>
          <p:nvPr userDrawn="1"/>
        </p:nvGrpSpPr>
        <p:grpSpPr>
          <a:xfrm>
            <a:off x="237032" y="177459"/>
            <a:ext cx="11717936" cy="1204427"/>
            <a:chOff x="107455" y="133094"/>
            <a:chExt cx="8788452" cy="90332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455" y="133094"/>
              <a:ext cx="2245885" cy="903320"/>
            </a:xfrm>
            <a:prstGeom prst="rect">
              <a:avLst/>
            </a:prstGeom>
          </p:spPr>
        </p:pic>
        <p:sp>
          <p:nvSpPr>
            <p:cNvPr id="14" name="TextBox 13"/>
            <p:cNvSpPr txBox="1"/>
            <p:nvPr userDrawn="1"/>
          </p:nvSpPr>
          <p:spPr>
            <a:xfrm>
              <a:off x="4791740" y="133094"/>
              <a:ext cx="4104167" cy="469408"/>
            </a:xfrm>
            <a:prstGeom prst="rect">
              <a:avLst/>
            </a:prstGeom>
            <a:noFill/>
          </p:spPr>
          <p:txBody>
            <a:bodyPr wrap="square" rtlCol="0">
              <a:spAutoFit/>
            </a:bodyPr>
            <a:lstStyle/>
            <a:p>
              <a:pPr algn="r"/>
              <a:r>
                <a:rPr lang="en-IN" sz="1867" b="1" dirty="0">
                  <a:latin typeface="Calibri" panose="020F0502020204030204" pitchFamily="34" charset="0"/>
                  <a:cs typeface="Calibri" panose="020F0502020204030204" pitchFamily="34" charset="0"/>
                </a:rPr>
                <a:t>REVA Academy for Corporate Excellence (RACE)</a:t>
              </a:r>
            </a:p>
            <a:p>
              <a:pPr algn="r"/>
              <a:r>
                <a:rPr lang="en-IN" sz="1600" dirty="0">
                  <a:latin typeface="Calibri" panose="020F0502020204030204" pitchFamily="34" charset="0"/>
                  <a:cs typeface="Calibri" panose="020F0502020204030204" pitchFamily="34" charset="0"/>
                </a:rPr>
                <a:t>www.race.reva.edu.in</a:t>
              </a:r>
            </a:p>
          </p:txBody>
        </p:sp>
      </p:grpSp>
    </p:spTree>
    <p:extLst>
      <p:ext uri="{BB962C8B-B14F-4D97-AF65-F5344CB8AC3E}">
        <p14:creationId xmlns:p14="http://schemas.microsoft.com/office/powerpoint/2010/main" val="2671280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70"/>
            <a:ext cx="12192000" cy="6855461"/>
          </a:xfrm>
          <a:prstGeom prst="rect">
            <a:avLst/>
          </a:prstGeom>
        </p:spPr>
      </p:pic>
      <p:grpSp>
        <p:nvGrpSpPr>
          <p:cNvPr id="16" name="Group 15"/>
          <p:cNvGrpSpPr/>
          <p:nvPr userDrawn="1"/>
        </p:nvGrpSpPr>
        <p:grpSpPr>
          <a:xfrm>
            <a:off x="237032" y="177459"/>
            <a:ext cx="11717936" cy="1204427"/>
            <a:chOff x="107455" y="133094"/>
            <a:chExt cx="8788452" cy="90332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455" y="133094"/>
              <a:ext cx="2245885" cy="903320"/>
            </a:xfrm>
            <a:prstGeom prst="rect">
              <a:avLst/>
            </a:prstGeom>
          </p:spPr>
        </p:pic>
        <p:sp>
          <p:nvSpPr>
            <p:cNvPr id="14" name="TextBox 13"/>
            <p:cNvSpPr txBox="1"/>
            <p:nvPr userDrawn="1"/>
          </p:nvSpPr>
          <p:spPr>
            <a:xfrm>
              <a:off x="4791740" y="133094"/>
              <a:ext cx="4104167" cy="469408"/>
            </a:xfrm>
            <a:prstGeom prst="rect">
              <a:avLst/>
            </a:prstGeom>
            <a:noFill/>
          </p:spPr>
          <p:txBody>
            <a:bodyPr wrap="square" rtlCol="0">
              <a:spAutoFit/>
            </a:bodyPr>
            <a:lstStyle/>
            <a:p>
              <a:pPr algn="r"/>
              <a:r>
                <a:rPr lang="en-IN" sz="1867" b="1" dirty="0">
                  <a:latin typeface="Calibri" panose="020F0502020204030204" pitchFamily="34" charset="0"/>
                  <a:cs typeface="Calibri" panose="020F0502020204030204" pitchFamily="34" charset="0"/>
                </a:rPr>
                <a:t>REVA Academy for Corporate Excellence (RACE)</a:t>
              </a:r>
            </a:p>
            <a:p>
              <a:pPr algn="r"/>
              <a:r>
                <a:rPr lang="en-IN" sz="1600" dirty="0">
                  <a:latin typeface="Calibri" panose="020F0502020204030204" pitchFamily="34" charset="0"/>
                  <a:cs typeface="Calibri" panose="020F0502020204030204" pitchFamily="34" charset="0"/>
                </a:rPr>
                <a:t>www.race.reva.edu.in</a:t>
              </a:r>
            </a:p>
          </p:txBody>
        </p:sp>
      </p:grpSp>
    </p:spTree>
    <p:extLst>
      <p:ext uri="{BB962C8B-B14F-4D97-AF65-F5344CB8AC3E}">
        <p14:creationId xmlns:p14="http://schemas.microsoft.com/office/powerpoint/2010/main" val="2011287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2_01" userDrawn="1">
  <p:cSld name="3_01">
    <p:spTree>
      <p:nvGrpSpPr>
        <p:cNvPr id="1" name="Shape 12"/>
        <p:cNvGrpSpPr/>
        <p:nvPr/>
      </p:nvGrpSpPr>
      <p:grpSpPr>
        <a:xfrm>
          <a:off x="0" y="0"/>
          <a:ext cx="0" cy="0"/>
          <a:chOff x="0" y="0"/>
          <a:chExt cx="0" cy="0"/>
        </a:xfrm>
      </p:grpSpPr>
      <p:cxnSp>
        <p:nvCxnSpPr>
          <p:cNvPr id="12" name="Straight Connector 11"/>
          <p:cNvCxnSpPr/>
          <p:nvPr userDrawn="1"/>
        </p:nvCxnSpPr>
        <p:spPr>
          <a:xfrm>
            <a:off x="197815" y="1166622"/>
            <a:ext cx="117963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5514882" y="393267"/>
            <a:ext cx="6479305" cy="492443"/>
          </a:xfrm>
          <a:prstGeom prst="rect">
            <a:avLst/>
          </a:prstGeom>
          <a:noFill/>
        </p:spPr>
        <p:txBody>
          <a:bodyPr wrap="square" rtlCol="0">
            <a:spAutoFit/>
          </a:bodyPr>
          <a:lstStyle/>
          <a:p>
            <a:pPr algn="r"/>
            <a:r>
              <a:rPr lang="en-IN" sz="1400" dirty="0">
                <a:latin typeface="+mj-lt"/>
              </a:rPr>
              <a:t>REVA Academy</a:t>
            </a:r>
            <a:r>
              <a:rPr lang="en-IN" sz="1400" baseline="0" dirty="0">
                <a:latin typeface="+mj-lt"/>
              </a:rPr>
              <a:t> for Corporate Excellence</a:t>
            </a:r>
          </a:p>
          <a:p>
            <a:pPr algn="r"/>
            <a:r>
              <a:rPr lang="en-IN" sz="1200" baseline="0" dirty="0">
                <a:latin typeface="+mj-lt"/>
              </a:rPr>
              <a:t>www.race.reva.edu.in </a:t>
            </a:r>
            <a:endParaRPr lang="en-IN" sz="1200" dirty="0">
              <a:latin typeface="+mj-lt"/>
            </a:endParaRP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7815" y="143294"/>
            <a:ext cx="2444405" cy="946221"/>
          </a:xfrm>
          <a:prstGeom prst="rect">
            <a:avLst/>
          </a:prstGeom>
        </p:spPr>
      </p:pic>
    </p:spTree>
    <p:extLst>
      <p:ext uri="{BB962C8B-B14F-4D97-AF65-F5344CB8AC3E}">
        <p14:creationId xmlns:p14="http://schemas.microsoft.com/office/powerpoint/2010/main" val="1745074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8382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F1468A9-DCD9-466F-99E8-72F5C99304C3}"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Roboto Slab"/>
                <a:ea typeface="+mn-ea"/>
                <a:cs typeface="+mn-cs"/>
              </a:rPr>
              <a:t>REVA Academy for Corporate Excellence – RACE | race.reva.edu.in</a:t>
            </a:r>
            <a:endParaRPr kumimoji="0" lang="en-US" sz="1200" b="0" i="0" u="none" strike="noStrike" kern="1200" cap="none" spc="0" normalizeH="0" baseline="0" noProof="0" dirty="0">
              <a:ln>
                <a:noFill/>
              </a:ln>
              <a:solidFill>
                <a:prstClr val="black">
                  <a:tint val="75000"/>
                </a:prstClr>
              </a:solidFill>
              <a:effectLst/>
              <a:uLnTx/>
              <a:uFillTx/>
              <a:latin typeface="Roboto Slab"/>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01D3BC5-34EF-44B2-83AC-D5533E46F0A6}" type="slidenum">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Roboto Slab"/>
              <a:ea typeface="+mn-ea"/>
              <a:cs typeface="+mn-cs"/>
            </a:endParaRPr>
          </a:p>
        </p:txBody>
      </p:sp>
    </p:spTree>
    <p:extLst>
      <p:ext uri="{BB962C8B-B14F-4D97-AF65-F5344CB8AC3E}">
        <p14:creationId xmlns:p14="http://schemas.microsoft.com/office/powerpoint/2010/main" val="14834108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F5BC2F2-4D2A-A620-8B97-4370377B1B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1721170-226C-1291-214E-AA69A4A822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92BC54E-B23E-83D9-219D-3E94E86A8B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B8086-8CEF-4375-ABEF-185B80135AEB}" type="datetime3">
              <a:rPr lang="en-US" smtClean="0"/>
              <a:t>4 August 2026</a:t>
            </a:fld>
            <a:endParaRPr lang="en-IN"/>
          </a:p>
        </p:txBody>
      </p:sp>
      <p:sp>
        <p:nvSpPr>
          <p:cNvPr id="5" name="Footer Placeholder 4">
            <a:extLst>
              <a:ext uri="{FF2B5EF4-FFF2-40B4-BE49-F238E27FC236}">
                <a16:creationId xmlns="" xmlns:a16="http://schemas.microsoft.com/office/drawing/2014/main" id="{815C31A5-9A34-06DF-31F6-C0E8F5A81E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REVA Academy for Corporate Excellence – RACE | race.reva.edu.in</a:t>
            </a:r>
            <a:endParaRPr lang="en-IN"/>
          </a:p>
        </p:txBody>
      </p:sp>
      <p:sp>
        <p:nvSpPr>
          <p:cNvPr id="6" name="Slide Number Placeholder 5">
            <a:extLst>
              <a:ext uri="{FF2B5EF4-FFF2-40B4-BE49-F238E27FC236}">
                <a16:creationId xmlns="" xmlns:a16="http://schemas.microsoft.com/office/drawing/2014/main" id="{A85A8EB8-6738-EBF2-0CE3-80E7244AE7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57AB3F-FF13-4C22-A1FE-9E11B92D325E}" type="slidenum">
              <a:rPr lang="en-IN" smtClean="0"/>
              <a:t>‹#›</a:t>
            </a:fld>
            <a:endParaRPr lang="en-IN"/>
          </a:p>
        </p:txBody>
      </p:sp>
    </p:spTree>
    <p:extLst>
      <p:ext uri="{BB962C8B-B14F-4D97-AF65-F5344CB8AC3E}">
        <p14:creationId xmlns:p14="http://schemas.microsoft.com/office/powerpoint/2010/main" val="236999276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7875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39629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1383" y="1899380"/>
            <a:ext cx="5905501" cy="1998307"/>
          </a:xfrm>
        </p:spPr>
        <p:txBody>
          <a:bodyPr anchor="ctr">
            <a:noAutofit/>
          </a:bodyPr>
          <a:lstStyle/>
          <a:p>
            <a:pPr algn="l">
              <a:lnSpc>
                <a:spcPct val="100000"/>
              </a:lnSpc>
            </a:pPr>
            <a:r>
              <a:rPr lang="en-US" sz="3200" b="1" dirty="0">
                <a:cs typeface="Arial" panose="020B0604020202020204" pitchFamily="34" charset="0"/>
              </a:rPr>
              <a:t>HeartRateAI: Contactless Heart Rate Monitoring via Face Recognition and rPPG</a:t>
            </a:r>
            <a:br>
              <a:rPr lang="en-US" sz="3200" b="1" dirty="0">
                <a:cs typeface="Arial" panose="020B0604020202020204" pitchFamily="34" charset="0"/>
              </a:rPr>
            </a:br>
            <a:r>
              <a:rPr lang="en-US" sz="2000" dirty="0" smtClean="0">
                <a:cs typeface="Arial" panose="020B0604020202020204" pitchFamily="34" charset="0"/>
              </a:rPr>
              <a:t>Proposal Presentation</a:t>
            </a:r>
            <a:endParaRPr lang="en-US" sz="2800" dirty="0">
              <a:cs typeface="Arial" panose="020B0604020202020204" pitchFamily="34" charset="0"/>
            </a:endParaRPr>
          </a:p>
        </p:txBody>
      </p:sp>
      <p:sp>
        <p:nvSpPr>
          <p:cNvPr id="3" name="Subtitle 2"/>
          <p:cNvSpPr>
            <a:spLocks noGrp="1"/>
          </p:cNvSpPr>
          <p:nvPr>
            <p:ph type="subTitle" idx="1"/>
          </p:nvPr>
        </p:nvSpPr>
        <p:spPr>
          <a:xfrm>
            <a:off x="5754994" y="2915884"/>
            <a:ext cx="5905500" cy="2232346"/>
          </a:xfrm>
        </p:spPr>
        <p:txBody>
          <a:bodyPr>
            <a:noAutofit/>
          </a:bodyPr>
          <a:lstStyle/>
          <a:p>
            <a:pPr algn="r"/>
            <a:r>
              <a:rPr lang="en-US" sz="1800" b="1" dirty="0">
                <a:solidFill>
                  <a:schemeClr val="bg1"/>
                </a:solidFill>
                <a:latin typeface="+mj-lt"/>
                <a:cs typeface="Arial" panose="020B0604020202020204" pitchFamily="34" charset="0"/>
              </a:rPr>
              <a:t>Name: </a:t>
            </a:r>
            <a:r>
              <a:rPr lang="en-US" sz="1800" b="1" dirty="0" smtClean="0">
                <a:solidFill>
                  <a:schemeClr val="bg1"/>
                </a:solidFill>
                <a:latin typeface="+mj-lt"/>
                <a:cs typeface="Arial" panose="020B0604020202020204" pitchFamily="34" charset="0"/>
              </a:rPr>
              <a:t>Veda </a:t>
            </a:r>
            <a:r>
              <a:rPr lang="en-US" sz="1800" b="1" dirty="0" err="1" smtClean="0">
                <a:solidFill>
                  <a:schemeClr val="bg1"/>
                </a:solidFill>
                <a:latin typeface="+mj-lt"/>
                <a:cs typeface="Arial" panose="020B0604020202020204" pitchFamily="34" charset="0"/>
              </a:rPr>
              <a:t>Shivayogi</a:t>
            </a:r>
            <a:r>
              <a:rPr lang="en-US" sz="1800" b="1" dirty="0" smtClean="0">
                <a:solidFill>
                  <a:schemeClr val="bg1"/>
                </a:solidFill>
                <a:latin typeface="+mj-lt"/>
                <a:cs typeface="Arial" panose="020B0604020202020204" pitchFamily="34" charset="0"/>
              </a:rPr>
              <a:t> </a:t>
            </a:r>
            <a:r>
              <a:rPr lang="en-US" sz="1800" b="1" dirty="0" err="1" smtClean="0">
                <a:solidFill>
                  <a:schemeClr val="bg1"/>
                </a:solidFill>
                <a:latin typeface="+mj-lt"/>
                <a:cs typeface="Arial" panose="020B0604020202020204" pitchFamily="34" charset="0"/>
              </a:rPr>
              <a:t>Ramagondanahalli</a:t>
            </a:r>
            <a:endParaRPr lang="en-US" sz="1800" b="1" dirty="0">
              <a:solidFill>
                <a:schemeClr val="bg1"/>
              </a:solidFill>
              <a:latin typeface="+mj-lt"/>
              <a:cs typeface="Arial" panose="020B0604020202020204" pitchFamily="34" charset="0"/>
            </a:endParaRPr>
          </a:p>
          <a:p>
            <a:pPr algn="r"/>
            <a:r>
              <a:rPr lang="en-US" sz="1800" b="1" dirty="0" err="1" smtClean="0">
                <a:solidFill>
                  <a:schemeClr val="bg1"/>
                </a:solidFill>
                <a:latin typeface="+mj-lt"/>
                <a:cs typeface="Arial" panose="020B0604020202020204" pitchFamily="34" charset="0"/>
              </a:rPr>
              <a:t>M.Tech</a:t>
            </a:r>
            <a:r>
              <a:rPr lang="en-US" sz="1800" b="1" dirty="0" smtClean="0">
                <a:solidFill>
                  <a:schemeClr val="bg1"/>
                </a:solidFill>
                <a:latin typeface="+mj-lt"/>
                <a:cs typeface="Arial" panose="020B0604020202020204" pitchFamily="34" charset="0"/>
              </a:rPr>
              <a:t> in AI</a:t>
            </a:r>
            <a:endParaRPr lang="en-US" sz="1800" b="1" dirty="0">
              <a:solidFill>
                <a:schemeClr val="bg1"/>
              </a:solidFill>
              <a:latin typeface="+mj-lt"/>
              <a:cs typeface="Arial" panose="020B0604020202020204" pitchFamily="34" charset="0"/>
            </a:endParaRPr>
          </a:p>
          <a:p>
            <a:pPr algn="r"/>
            <a:endParaRPr lang="en-US" sz="1400" dirty="0">
              <a:solidFill>
                <a:schemeClr val="bg1"/>
              </a:solidFill>
              <a:latin typeface="+mj-lt"/>
              <a:cs typeface="Arial" panose="020B0604020202020204" pitchFamily="34" charset="0"/>
            </a:endParaRPr>
          </a:p>
        </p:txBody>
      </p:sp>
      <p:sp>
        <p:nvSpPr>
          <p:cNvPr id="7" name="Title 1"/>
          <p:cNvSpPr txBox="1">
            <a:spLocks/>
          </p:cNvSpPr>
          <p:nvPr/>
        </p:nvSpPr>
        <p:spPr>
          <a:xfrm>
            <a:off x="5485425" y="6119446"/>
            <a:ext cx="6175069" cy="35260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lang="en-IN" sz="1600" dirty="0">
                <a:solidFill>
                  <a:prstClr val="white"/>
                </a:solidFill>
                <a:latin typeface="Roboto Slab"/>
                <a:ea typeface="Calibri" panose="020F0502020204030204" pitchFamily="34" charset="0"/>
                <a:cs typeface="Arial" panose="020B0604020202020204" pitchFamily="34" charset="0"/>
              </a:rPr>
              <a:t>race</a:t>
            </a:r>
            <a:r>
              <a:rPr kumimoji="0" lang="en-IN" sz="1600" b="0" i="0" u="none" strike="noStrike" kern="1200" cap="none" spc="0" normalizeH="0" baseline="0" noProof="0" dirty="0">
                <a:ln>
                  <a:noFill/>
                </a:ln>
                <a:solidFill>
                  <a:prstClr val="white"/>
                </a:solidFill>
                <a:effectLst/>
                <a:uLnTx/>
                <a:uFillTx/>
                <a:latin typeface="Roboto Slab"/>
                <a:ea typeface="Calibri" panose="020F0502020204030204" pitchFamily="34" charset="0"/>
                <a:cs typeface="Arial" panose="020B0604020202020204" pitchFamily="34" charset="0"/>
              </a:rPr>
              <a:t>.reva.edu.in</a:t>
            </a:r>
          </a:p>
        </p:txBody>
      </p:sp>
      <p:sp>
        <p:nvSpPr>
          <p:cNvPr id="8" name="Title 2"/>
          <p:cNvSpPr txBox="1">
            <a:spLocks/>
          </p:cNvSpPr>
          <p:nvPr/>
        </p:nvSpPr>
        <p:spPr>
          <a:xfrm>
            <a:off x="6646333" y="316049"/>
            <a:ext cx="5267501" cy="5798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en-IN" sz="1400" b="1" i="0" u="none" strike="noStrike" kern="1200" cap="none" spc="0" normalizeH="0" baseline="0" noProof="0" dirty="0">
                <a:ln>
                  <a:noFill/>
                </a:ln>
                <a:solidFill>
                  <a:srgbClr val="595959"/>
                </a:solidFill>
                <a:effectLst/>
                <a:uLnTx/>
                <a:uFillTx/>
                <a:latin typeface="Roboto Slab"/>
                <a:ea typeface="+mj-ea"/>
                <a:cs typeface="+mj-cs"/>
              </a:rPr>
              <a:t>REVA Academy for Corporate Excellence (RACE)</a:t>
            </a:r>
          </a:p>
        </p:txBody>
      </p:sp>
    </p:spTree>
    <p:extLst>
      <p:ext uri="{BB962C8B-B14F-4D97-AF65-F5344CB8AC3E}">
        <p14:creationId xmlns:p14="http://schemas.microsoft.com/office/powerpoint/2010/main" val="3819035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Agenda</a:t>
            </a:r>
          </a:p>
        </p:txBody>
      </p:sp>
      <p:grpSp>
        <p:nvGrpSpPr>
          <p:cNvPr id="9" name="Group 8">
            <a:extLst>
              <a:ext uri="{FF2B5EF4-FFF2-40B4-BE49-F238E27FC236}">
                <a16:creationId xmlns="" xmlns:a16="http://schemas.microsoft.com/office/drawing/2014/main" id="{37F06B10-F2B9-45AE-BAEE-3A25BDC40F60}"/>
              </a:ext>
            </a:extLst>
          </p:cNvPr>
          <p:cNvGrpSpPr/>
          <p:nvPr/>
        </p:nvGrpSpPr>
        <p:grpSpPr>
          <a:xfrm>
            <a:off x="738295" y="1665297"/>
            <a:ext cx="3684148" cy="716410"/>
            <a:chOff x="1848112" y="1575921"/>
            <a:chExt cx="5288092" cy="781718"/>
          </a:xfrm>
        </p:grpSpPr>
        <p:sp>
          <p:nvSpPr>
            <p:cNvPr id="10" name="TextBox 9"/>
            <p:cNvSpPr txBox="1"/>
            <p:nvPr/>
          </p:nvSpPr>
          <p:spPr>
            <a:xfrm>
              <a:off x="2628512" y="2088972"/>
              <a:ext cx="4507692" cy="268667"/>
            </a:xfrm>
            <a:prstGeom prst="rect">
              <a:avLst/>
            </a:prstGeom>
            <a:noFill/>
          </p:spPr>
          <p:txBody>
            <a:bodyPr wrap="square" rtlCol="0">
              <a:spAutoFit/>
            </a:bodyPr>
            <a:lstStyle/>
            <a:p>
              <a:r>
                <a:rPr lang="en-US" altLang="ko-KR" sz="1000" dirty="0">
                  <a:solidFill>
                    <a:schemeClr val="tx1">
                      <a:lumMod val="75000"/>
                      <a:lumOff val="25000"/>
                    </a:schemeClr>
                  </a:solidFill>
                  <a:latin typeface="+mj-lt"/>
                  <a:cs typeface="Arial" pitchFamily="34" charset="0"/>
                </a:rPr>
                <a:t>Background | Current status | Why this study  </a:t>
              </a:r>
            </a:p>
          </p:txBody>
        </p:sp>
        <p:sp>
          <p:nvSpPr>
            <p:cNvPr id="11" name="TextBox 10"/>
            <p:cNvSpPr txBox="1"/>
            <p:nvPr/>
          </p:nvSpPr>
          <p:spPr>
            <a:xfrm>
              <a:off x="2602027" y="1662793"/>
              <a:ext cx="4507692" cy="403000"/>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Introduction</a:t>
              </a:r>
              <a:endParaRPr lang="ko-KR" altLang="en-US" b="1" dirty="0">
                <a:solidFill>
                  <a:schemeClr val="tx1">
                    <a:lumMod val="75000"/>
                    <a:lumOff val="25000"/>
                  </a:schemeClr>
                </a:solidFill>
                <a:latin typeface="+mj-lt"/>
                <a:cs typeface="Arial" pitchFamily="34" charset="0"/>
              </a:endParaRPr>
            </a:p>
          </p:txBody>
        </p:sp>
        <p:sp>
          <p:nvSpPr>
            <p:cNvPr id="12" name="TextBox 11"/>
            <p:cNvSpPr txBox="1"/>
            <p:nvPr/>
          </p:nvSpPr>
          <p:spPr>
            <a:xfrm>
              <a:off x="1848112" y="1575921"/>
              <a:ext cx="958095" cy="570917"/>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01</a:t>
              </a:r>
              <a:endParaRPr lang="ko-KR" altLang="en-US" sz="2800" b="1" dirty="0">
                <a:solidFill>
                  <a:schemeClr val="tx1">
                    <a:lumMod val="75000"/>
                    <a:lumOff val="25000"/>
                  </a:schemeClr>
                </a:solidFill>
                <a:latin typeface="+mj-lt"/>
                <a:cs typeface="Arial" pitchFamily="34" charset="0"/>
              </a:endParaRPr>
            </a:p>
          </p:txBody>
        </p:sp>
      </p:grpSp>
      <p:grpSp>
        <p:nvGrpSpPr>
          <p:cNvPr id="13" name="Group 12">
            <a:extLst>
              <a:ext uri="{FF2B5EF4-FFF2-40B4-BE49-F238E27FC236}">
                <a16:creationId xmlns="" xmlns:a16="http://schemas.microsoft.com/office/drawing/2014/main" id="{48C572D2-FF82-4F09-A87C-3D3A60EF1C3D}"/>
              </a:ext>
            </a:extLst>
          </p:cNvPr>
          <p:cNvGrpSpPr/>
          <p:nvPr/>
        </p:nvGrpSpPr>
        <p:grpSpPr>
          <a:xfrm>
            <a:off x="566654" y="2735611"/>
            <a:ext cx="5244336" cy="680781"/>
            <a:chOff x="1848112" y="1575921"/>
            <a:chExt cx="5244336" cy="680781"/>
          </a:xfrm>
        </p:grpSpPr>
        <p:sp>
          <p:nvSpPr>
            <p:cNvPr id="14" name="TextBox 13">
              <a:extLst>
                <a:ext uri="{FF2B5EF4-FFF2-40B4-BE49-F238E27FC236}">
                  <a16:creationId xmlns="" xmlns:a16="http://schemas.microsoft.com/office/drawing/2014/main" id="{4C6F8FA6-DB08-4060-9832-77D337D2BF55}"/>
                </a:ext>
              </a:extLst>
            </p:cNvPr>
            <p:cNvSpPr txBox="1"/>
            <p:nvPr/>
          </p:nvSpPr>
          <p:spPr>
            <a:xfrm>
              <a:off x="2584756" y="2010481"/>
              <a:ext cx="4507692" cy="246221"/>
            </a:xfrm>
            <a:prstGeom prst="rect">
              <a:avLst/>
            </a:prstGeom>
            <a:noFill/>
          </p:spPr>
          <p:txBody>
            <a:bodyPr wrap="square" rtlCol="0">
              <a:spAutoFit/>
            </a:bodyPr>
            <a:lstStyle/>
            <a:p>
              <a:r>
                <a:rPr lang="en-US" altLang="ko-KR" sz="1000" dirty="0">
                  <a:solidFill>
                    <a:schemeClr val="tx1">
                      <a:lumMod val="75000"/>
                      <a:lumOff val="25000"/>
                    </a:schemeClr>
                  </a:solidFill>
                  <a:latin typeface="+mj-lt"/>
                  <a:ea typeface="FZShuTi" pitchFamily="2" charset="-122"/>
                  <a:cs typeface="Arial" pitchFamily="34" charset="0"/>
                </a:rPr>
                <a:t>Seminal works | Summary | Research Gap</a:t>
              </a:r>
              <a:endParaRPr lang="en-US" altLang="ko-KR" sz="1000" dirty="0">
                <a:solidFill>
                  <a:schemeClr val="tx1">
                    <a:lumMod val="75000"/>
                    <a:lumOff val="25000"/>
                  </a:schemeClr>
                </a:solidFill>
                <a:latin typeface="+mj-lt"/>
                <a:cs typeface="Arial" pitchFamily="34" charset="0"/>
              </a:endParaRPr>
            </a:p>
          </p:txBody>
        </p:sp>
        <p:sp>
          <p:nvSpPr>
            <p:cNvPr id="15" name="TextBox 14">
              <a:extLst>
                <a:ext uri="{FF2B5EF4-FFF2-40B4-BE49-F238E27FC236}">
                  <a16:creationId xmlns="" xmlns:a16="http://schemas.microsoft.com/office/drawing/2014/main" id="{4FCF8A9D-7E22-4279-8535-9C4F0258D7B9}"/>
                </a:ext>
              </a:extLst>
            </p:cNvPr>
            <p:cNvSpPr txBox="1"/>
            <p:nvPr/>
          </p:nvSpPr>
          <p:spPr>
            <a:xfrm>
              <a:off x="2584756" y="1641794"/>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Literature Review</a:t>
              </a:r>
              <a:endParaRPr lang="ko-KR" altLang="en-US" b="1" dirty="0">
                <a:solidFill>
                  <a:schemeClr val="tx1">
                    <a:lumMod val="75000"/>
                    <a:lumOff val="25000"/>
                  </a:schemeClr>
                </a:solidFill>
                <a:latin typeface="+mj-lt"/>
                <a:cs typeface="Arial" pitchFamily="34" charset="0"/>
              </a:endParaRPr>
            </a:p>
          </p:txBody>
        </p:sp>
        <p:sp>
          <p:nvSpPr>
            <p:cNvPr id="16" name="TextBox 15">
              <a:extLst>
                <a:ext uri="{FF2B5EF4-FFF2-40B4-BE49-F238E27FC236}">
                  <a16:creationId xmlns="" xmlns:a16="http://schemas.microsoft.com/office/drawing/2014/main" id="{3E6D74D0-F347-4E58-A9D8-7E9536FAAEC3}"/>
                </a:ext>
              </a:extLst>
            </p:cNvPr>
            <p:cNvSpPr txBox="1"/>
            <p:nvPr/>
          </p:nvSpPr>
          <p:spPr>
            <a:xfrm>
              <a:off x="1848112" y="1575921"/>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02</a:t>
              </a:r>
              <a:endParaRPr lang="ko-KR" altLang="en-US" sz="2800" b="1" dirty="0">
                <a:solidFill>
                  <a:schemeClr val="tx1">
                    <a:lumMod val="75000"/>
                    <a:lumOff val="25000"/>
                  </a:schemeClr>
                </a:solidFill>
                <a:latin typeface="+mj-lt"/>
                <a:cs typeface="Arial" pitchFamily="34" charset="0"/>
              </a:endParaRPr>
            </a:p>
          </p:txBody>
        </p:sp>
      </p:grpSp>
      <p:grpSp>
        <p:nvGrpSpPr>
          <p:cNvPr id="17" name="Group 16">
            <a:extLst>
              <a:ext uri="{FF2B5EF4-FFF2-40B4-BE49-F238E27FC236}">
                <a16:creationId xmlns="" xmlns:a16="http://schemas.microsoft.com/office/drawing/2014/main" id="{C66517ED-D341-498B-BF06-476933A43F6B}"/>
              </a:ext>
            </a:extLst>
          </p:cNvPr>
          <p:cNvGrpSpPr/>
          <p:nvPr/>
        </p:nvGrpSpPr>
        <p:grpSpPr>
          <a:xfrm>
            <a:off x="692558" y="4990383"/>
            <a:ext cx="4493778" cy="805558"/>
            <a:chOff x="1830629" y="1575337"/>
            <a:chExt cx="5282581" cy="805558"/>
          </a:xfrm>
        </p:grpSpPr>
        <p:sp>
          <p:nvSpPr>
            <p:cNvPr id="18" name="TextBox 17">
              <a:extLst>
                <a:ext uri="{FF2B5EF4-FFF2-40B4-BE49-F238E27FC236}">
                  <a16:creationId xmlns="" xmlns:a16="http://schemas.microsoft.com/office/drawing/2014/main" id="{7DDE46A4-1F4F-419B-85C6-1ABD9A677D50}"/>
                </a:ext>
              </a:extLst>
            </p:cNvPr>
            <p:cNvSpPr txBox="1"/>
            <p:nvPr/>
          </p:nvSpPr>
          <p:spPr>
            <a:xfrm>
              <a:off x="2605518" y="1980785"/>
              <a:ext cx="4507692" cy="400110"/>
            </a:xfrm>
            <a:prstGeom prst="rect">
              <a:avLst/>
            </a:prstGeom>
            <a:noFill/>
          </p:spPr>
          <p:txBody>
            <a:bodyPr wrap="square" rtlCol="0">
              <a:spAutoFit/>
            </a:bodyPr>
            <a:lstStyle/>
            <a:p>
              <a:r>
                <a:rPr lang="en-US" altLang="ko-KR" sz="1000" dirty="0">
                  <a:solidFill>
                    <a:schemeClr val="tx1">
                      <a:lumMod val="75000"/>
                      <a:lumOff val="25000"/>
                    </a:schemeClr>
                  </a:solidFill>
                  <a:latin typeface="+mj-lt"/>
                  <a:cs typeface="Arial" pitchFamily="34" charset="0"/>
                </a:rPr>
                <a:t>Primary &amp; Secondary Objectives | Expected Outcome</a:t>
              </a:r>
            </a:p>
            <a:p>
              <a:r>
                <a:rPr lang="en-US" altLang="ko-KR" sz="1000" dirty="0">
                  <a:solidFill>
                    <a:schemeClr val="tx1">
                      <a:lumMod val="75000"/>
                      <a:lumOff val="25000"/>
                    </a:schemeClr>
                  </a:solidFill>
                  <a:latin typeface="+mj-lt"/>
                  <a:cs typeface="Arial" pitchFamily="34" charset="0"/>
                </a:rPr>
                <a:t> </a:t>
              </a:r>
            </a:p>
          </p:txBody>
        </p:sp>
        <p:sp>
          <p:nvSpPr>
            <p:cNvPr id="19" name="TextBox 18">
              <a:extLst>
                <a:ext uri="{FF2B5EF4-FFF2-40B4-BE49-F238E27FC236}">
                  <a16:creationId xmlns="" xmlns:a16="http://schemas.microsoft.com/office/drawing/2014/main" id="{190EC436-1B46-49D9-A7E4-ADECB5E929DF}"/>
                </a:ext>
              </a:extLst>
            </p:cNvPr>
            <p:cNvSpPr txBox="1"/>
            <p:nvPr/>
          </p:nvSpPr>
          <p:spPr>
            <a:xfrm>
              <a:off x="2535876" y="1642552"/>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 Project Objectives  </a:t>
              </a:r>
              <a:endParaRPr lang="ko-KR" altLang="en-US" b="1" dirty="0">
                <a:solidFill>
                  <a:schemeClr val="tx1">
                    <a:lumMod val="75000"/>
                    <a:lumOff val="25000"/>
                  </a:schemeClr>
                </a:solidFill>
                <a:latin typeface="+mj-lt"/>
                <a:cs typeface="Arial" pitchFamily="34" charset="0"/>
              </a:endParaRPr>
            </a:p>
          </p:txBody>
        </p:sp>
        <p:sp>
          <p:nvSpPr>
            <p:cNvPr id="20" name="TextBox 19">
              <a:extLst>
                <a:ext uri="{FF2B5EF4-FFF2-40B4-BE49-F238E27FC236}">
                  <a16:creationId xmlns="" xmlns:a16="http://schemas.microsoft.com/office/drawing/2014/main" id="{CF831A6C-272F-4BDD-8F88-4227AAB90FB2}"/>
                </a:ext>
              </a:extLst>
            </p:cNvPr>
            <p:cNvSpPr txBox="1"/>
            <p:nvPr/>
          </p:nvSpPr>
          <p:spPr>
            <a:xfrm>
              <a:off x="1830629" y="1575337"/>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04</a:t>
              </a:r>
              <a:endParaRPr lang="ko-KR" altLang="en-US" sz="2800" b="1" dirty="0">
                <a:solidFill>
                  <a:schemeClr val="tx1">
                    <a:lumMod val="75000"/>
                    <a:lumOff val="25000"/>
                  </a:schemeClr>
                </a:solidFill>
                <a:latin typeface="+mj-lt"/>
                <a:cs typeface="Arial" pitchFamily="34" charset="0"/>
              </a:endParaRPr>
            </a:p>
          </p:txBody>
        </p:sp>
      </p:grpSp>
      <p:grpSp>
        <p:nvGrpSpPr>
          <p:cNvPr id="5" name="Group 4"/>
          <p:cNvGrpSpPr/>
          <p:nvPr/>
        </p:nvGrpSpPr>
        <p:grpSpPr>
          <a:xfrm>
            <a:off x="6315038" y="1740858"/>
            <a:ext cx="3715984" cy="620982"/>
            <a:chOff x="366296" y="5072998"/>
            <a:chExt cx="5339298" cy="620982"/>
          </a:xfrm>
        </p:grpSpPr>
        <p:grpSp>
          <p:nvGrpSpPr>
            <p:cNvPr id="21" name="Group 20">
              <a:extLst>
                <a:ext uri="{FF2B5EF4-FFF2-40B4-BE49-F238E27FC236}">
                  <a16:creationId xmlns="" xmlns:a16="http://schemas.microsoft.com/office/drawing/2014/main" id="{1DEE4032-D811-4C99-AE03-98362C887B64}"/>
                </a:ext>
              </a:extLst>
            </p:cNvPr>
            <p:cNvGrpSpPr/>
            <p:nvPr/>
          </p:nvGrpSpPr>
          <p:grpSpPr>
            <a:xfrm>
              <a:off x="366296" y="5072998"/>
              <a:ext cx="5339298" cy="523220"/>
              <a:chOff x="1683508" y="1590033"/>
              <a:chExt cx="5339298" cy="523220"/>
            </a:xfrm>
          </p:grpSpPr>
          <p:sp>
            <p:nvSpPr>
              <p:cNvPr id="23" name="TextBox 22">
                <a:extLst>
                  <a:ext uri="{FF2B5EF4-FFF2-40B4-BE49-F238E27FC236}">
                    <a16:creationId xmlns="" xmlns:a16="http://schemas.microsoft.com/office/drawing/2014/main" id="{3DFCC804-6C1D-4C67-B274-1978635DA6F9}"/>
                  </a:ext>
                </a:extLst>
              </p:cNvPr>
              <p:cNvSpPr txBox="1"/>
              <p:nvPr/>
            </p:nvSpPr>
            <p:spPr>
              <a:xfrm>
                <a:off x="2515114" y="1626240"/>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Project Methodology  </a:t>
                </a:r>
                <a:endParaRPr lang="ko-KR" altLang="en-US" b="1" dirty="0">
                  <a:solidFill>
                    <a:schemeClr val="tx1">
                      <a:lumMod val="75000"/>
                      <a:lumOff val="25000"/>
                    </a:schemeClr>
                  </a:solidFill>
                  <a:latin typeface="+mj-lt"/>
                  <a:cs typeface="Arial" pitchFamily="34" charset="0"/>
                </a:endParaRPr>
              </a:p>
            </p:txBody>
          </p:sp>
          <p:sp>
            <p:nvSpPr>
              <p:cNvPr id="24" name="TextBox 23">
                <a:extLst>
                  <a:ext uri="{FF2B5EF4-FFF2-40B4-BE49-F238E27FC236}">
                    <a16:creationId xmlns="" xmlns:a16="http://schemas.microsoft.com/office/drawing/2014/main" id="{7B7AC64B-48B2-4F4F-A626-7901145018C6}"/>
                  </a:ext>
                </a:extLst>
              </p:cNvPr>
              <p:cNvSpPr txBox="1"/>
              <p:nvPr/>
            </p:nvSpPr>
            <p:spPr>
              <a:xfrm>
                <a:off x="1683508" y="1590033"/>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05</a:t>
                </a:r>
                <a:endParaRPr lang="ko-KR" altLang="en-US" sz="2800" b="1" dirty="0">
                  <a:solidFill>
                    <a:schemeClr val="tx1">
                      <a:lumMod val="75000"/>
                      <a:lumOff val="25000"/>
                    </a:schemeClr>
                  </a:solidFill>
                  <a:latin typeface="+mj-lt"/>
                  <a:cs typeface="Arial" pitchFamily="34" charset="0"/>
                </a:endParaRPr>
              </a:p>
            </p:txBody>
          </p:sp>
        </p:grpSp>
        <p:sp>
          <p:nvSpPr>
            <p:cNvPr id="3" name="Rectangle 2"/>
            <p:cNvSpPr/>
            <p:nvPr/>
          </p:nvSpPr>
          <p:spPr>
            <a:xfrm>
              <a:off x="1228051" y="5440064"/>
              <a:ext cx="2840842" cy="253916"/>
            </a:xfrm>
            <a:prstGeom prst="rect">
              <a:avLst/>
            </a:prstGeom>
          </p:spPr>
          <p:txBody>
            <a:bodyPr wrap="none">
              <a:spAutoFit/>
            </a:bodyPr>
            <a:lstStyle/>
            <a:p>
              <a:r>
                <a:rPr lang="en-US" sz="1050" dirty="0"/>
                <a:t>Conceptual Framework | Research Design</a:t>
              </a:r>
            </a:p>
          </p:txBody>
        </p:sp>
      </p:grpSp>
      <p:grpSp>
        <p:nvGrpSpPr>
          <p:cNvPr id="25" name="Group 24">
            <a:extLst>
              <a:ext uri="{FF2B5EF4-FFF2-40B4-BE49-F238E27FC236}">
                <a16:creationId xmlns="" xmlns:a16="http://schemas.microsoft.com/office/drawing/2014/main" id="{37F06B10-F2B9-45AE-BAEE-3A25BDC40F60}"/>
              </a:ext>
            </a:extLst>
          </p:cNvPr>
          <p:cNvGrpSpPr/>
          <p:nvPr/>
        </p:nvGrpSpPr>
        <p:grpSpPr>
          <a:xfrm>
            <a:off x="6345492" y="2735563"/>
            <a:ext cx="3848699" cy="676334"/>
            <a:chOff x="1848112" y="1575921"/>
            <a:chExt cx="5360890" cy="676334"/>
          </a:xfrm>
        </p:grpSpPr>
        <p:sp>
          <p:nvSpPr>
            <p:cNvPr id="26" name="TextBox 25"/>
            <p:cNvSpPr txBox="1"/>
            <p:nvPr/>
          </p:nvSpPr>
          <p:spPr>
            <a:xfrm>
              <a:off x="2701310" y="2006034"/>
              <a:ext cx="4507692" cy="246221"/>
            </a:xfrm>
            <a:prstGeom prst="rect">
              <a:avLst/>
            </a:prstGeom>
            <a:noFill/>
          </p:spPr>
          <p:txBody>
            <a:bodyPr wrap="square" rtlCol="0">
              <a:spAutoFit/>
            </a:bodyPr>
            <a:lstStyle/>
            <a:p>
              <a:r>
                <a:rPr lang="en-US" altLang="ko-KR" sz="1000" dirty="0">
                  <a:solidFill>
                    <a:schemeClr val="tx1">
                      <a:lumMod val="75000"/>
                      <a:lumOff val="25000"/>
                    </a:schemeClr>
                  </a:solidFill>
                  <a:latin typeface="+mj-lt"/>
                  <a:cs typeface="Arial" pitchFamily="34" charset="0"/>
                </a:rPr>
                <a:t> </a:t>
              </a:r>
            </a:p>
          </p:txBody>
        </p:sp>
        <p:sp>
          <p:nvSpPr>
            <p:cNvPr id="27" name="TextBox 26"/>
            <p:cNvSpPr txBox="1"/>
            <p:nvPr/>
          </p:nvSpPr>
          <p:spPr>
            <a:xfrm>
              <a:off x="2645983" y="1652044"/>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Proposed Solution</a:t>
              </a:r>
              <a:endParaRPr lang="ko-KR" altLang="en-US" b="1" dirty="0">
                <a:solidFill>
                  <a:schemeClr val="tx1">
                    <a:lumMod val="75000"/>
                    <a:lumOff val="25000"/>
                  </a:schemeClr>
                </a:solidFill>
                <a:latin typeface="+mj-lt"/>
                <a:cs typeface="Arial" pitchFamily="34" charset="0"/>
              </a:endParaRPr>
            </a:p>
          </p:txBody>
        </p:sp>
        <p:sp>
          <p:nvSpPr>
            <p:cNvPr id="28" name="TextBox 27"/>
            <p:cNvSpPr txBox="1"/>
            <p:nvPr/>
          </p:nvSpPr>
          <p:spPr>
            <a:xfrm>
              <a:off x="1848112" y="1575921"/>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06</a:t>
              </a:r>
              <a:endParaRPr lang="ko-KR" altLang="en-US" sz="2800" b="1" dirty="0">
                <a:solidFill>
                  <a:schemeClr val="tx1">
                    <a:lumMod val="75000"/>
                    <a:lumOff val="25000"/>
                  </a:schemeClr>
                </a:solidFill>
                <a:latin typeface="+mj-lt"/>
                <a:cs typeface="Arial" pitchFamily="34" charset="0"/>
              </a:endParaRPr>
            </a:p>
          </p:txBody>
        </p:sp>
      </p:grpSp>
      <p:grpSp>
        <p:nvGrpSpPr>
          <p:cNvPr id="43" name="Group 42"/>
          <p:cNvGrpSpPr/>
          <p:nvPr/>
        </p:nvGrpSpPr>
        <p:grpSpPr>
          <a:xfrm>
            <a:off x="608162" y="3850475"/>
            <a:ext cx="5244336" cy="691368"/>
            <a:chOff x="530900" y="5058886"/>
            <a:chExt cx="5244336" cy="691368"/>
          </a:xfrm>
        </p:grpSpPr>
        <p:grpSp>
          <p:nvGrpSpPr>
            <p:cNvPr id="44" name="Group 43">
              <a:extLst>
                <a:ext uri="{FF2B5EF4-FFF2-40B4-BE49-F238E27FC236}">
                  <a16:creationId xmlns="" xmlns:a16="http://schemas.microsoft.com/office/drawing/2014/main" id="{1DEE4032-D811-4C99-AE03-98362C887B64}"/>
                </a:ext>
              </a:extLst>
            </p:cNvPr>
            <p:cNvGrpSpPr/>
            <p:nvPr/>
          </p:nvGrpSpPr>
          <p:grpSpPr>
            <a:xfrm>
              <a:off x="530900" y="5058886"/>
              <a:ext cx="5244336" cy="523220"/>
              <a:chOff x="1848112" y="1575921"/>
              <a:chExt cx="5244336" cy="523220"/>
            </a:xfrm>
          </p:grpSpPr>
          <p:sp>
            <p:nvSpPr>
              <p:cNvPr id="47" name="TextBox 46">
                <a:extLst>
                  <a:ext uri="{FF2B5EF4-FFF2-40B4-BE49-F238E27FC236}">
                    <a16:creationId xmlns="" xmlns:a16="http://schemas.microsoft.com/office/drawing/2014/main" id="{3DFCC804-6C1D-4C67-B274-1978635DA6F9}"/>
                  </a:ext>
                </a:extLst>
              </p:cNvPr>
              <p:cNvSpPr txBox="1"/>
              <p:nvPr/>
            </p:nvSpPr>
            <p:spPr>
              <a:xfrm>
                <a:off x="2584756" y="1641696"/>
                <a:ext cx="4507692" cy="369332"/>
              </a:xfrm>
              <a:prstGeom prst="rect">
                <a:avLst/>
              </a:prstGeom>
              <a:noFill/>
            </p:spPr>
            <p:txBody>
              <a:bodyPr wrap="square" lIns="108000" rIns="108000" rtlCol="0">
                <a:spAutoFit/>
              </a:bodyPr>
              <a:lstStyle/>
              <a:p>
                <a:r>
                  <a:rPr lang="en-US" altLang="ko-KR" b="1" dirty="0">
                    <a:solidFill>
                      <a:schemeClr val="tx1">
                        <a:lumMod val="75000"/>
                        <a:lumOff val="25000"/>
                      </a:schemeClr>
                    </a:solidFill>
                    <a:latin typeface="+mj-lt"/>
                    <a:cs typeface="Arial" pitchFamily="34" charset="0"/>
                  </a:rPr>
                  <a:t>Problem Statement</a:t>
                </a:r>
                <a:endParaRPr lang="ko-KR" altLang="en-US" b="1" dirty="0">
                  <a:solidFill>
                    <a:schemeClr val="tx1">
                      <a:lumMod val="75000"/>
                      <a:lumOff val="25000"/>
                    </a:schemeClr>
                  </a:solidFill>
                  <a:latin typeface="+mj-lt"/>
                  <a:cs typeface="Arial" pitchFamily="34" charset="0"/>
                </a:endParaRPr>
              </a:p>
            </p:txBody>
          </p:sp>
          <p:sp>
            <p:nvSpPr>
              <p:cNvPr id="48" name="TextBox 47">
                <a:extLst>
                  <a:ext uri="{FF2B5EF4-FFF2-40B4-BE49-F238E27FC236}">
                    <a16:creationId xmlns="" xmlns:a16="http://schemas.microsoft.com/office/drawing/2014/main" id="{7B7AC64B-48B2-4F4F-A626-7901145018C6}"/>
                  </a:ext>
                </a:extLst>
              </p:cNvPr>
              <p:cNvSpPr txBox="1"/>
              <p:nvPr/>
            </p:nvSpPr>
            <p:spPr>
              <a:xfrm>
                <a:off x="1848112" y="1575921"/>
                <a:ext cx="958096" cy="523220"/>
              </a:xfrm>
              <a:prstGeom prst="rect">
                <a:avLst/>
              </a:prstGeom>
              <a:noFill/>
            </p:spPr>
            <p:txBody>
              <a:bodyPr wrap="square" lIns="108000" rIns="108000" rtlCol="0">
                <a:spAutoFit/>
              </a:bodyPr>
              <a:lstStyle/>
              <a:p>
                <a:pPr algn="ctr"/>
                <a:r>
                  <a:rPr lang="en-US" altLang="ko-KR" sz="2800" b="1" dirty="0">
                    <a:solidFill>
                      <a:schemeClr val="tx1">
                        <a:lumMod val="75000"/>
                        <a:lumOff val="25000"/>
                      </a:schemeClr>
                    </a:solidFill>
                    <a:latin typeface="+mj-lt"/>
                    <a:cs typeface="Arial" pitchFamily="34" charset="0"/>
                  </a:rPr>
                  <a:t>03</a:t>
                </a:r>
                <a:endParaRPr lang="ko-KR" altLang="en-US" sz="2800" b="1" dirty="0">
                  <a:solidFill>
                    <a:schemeClr val="tx1">
                      <a:lumMod val="75000"/>
                      <a:lumOff val="25000"/>
                    </a:schemeClr>
                  </a:solidFill>
                  <a:latin typeface="+mj-lt"/>
                  <a:cs typeface="Arial" pitchFamily="34" charset="0"/>
                </a:endParaRPr>
              </a:p>
            </p:txBody>
          </p:sp>
        </p:grpSp>
        <p:sp>
          <p:nvSpPr>
            <p:cNvPr id="45" name="Rectangle 44"/>
            <p:cNvSpPr/>
            <p:nvPr/>
          </p:nvSpPr>
          <p:spPr>
            <a:xfrm>
              <a:off x="1267544" y="5496338"/>
              <a:ext cx="2206053" cy="253916"/>
            </a:xfrm>
            <a:prstGeom prst="rect">
              <a:avLst/>
            </a:prstGeom>
          </p:spPr>
          <p:txBody>
            <a:bodyPr wrap="none">
              <a:spAutoFit/>
            </a:bodyPr>
            <a:lstStyle/>
            <a:p>
              <a:r>
                <a:rPr lang="en-US" sz="1050" dirty="0"/>
                <a:t>Technical/Functional  Problem </a:t>
              </a:r>
            </a:p>
          </p:txBody>
        </p:sp>
      </p:grpSp>
      <p:grpSp>
        <p:nvGrpSpPr>
          <p:cNvPr id="49" name="Group 48">
            <a:extLst>
              <a:ext uri="{FF2B5EF4-FFF2-40B4-BE49-F238E27FC236}">
                <a16:creationId xmlns="" xmlns:a16="http://schemas.microsoft.com/office/drawing/2014/main" id="{37F06B10-F2B9-45AE-BAEE-3A25BDC40F60}"/>
              </a:ext>
            </a:extLst>
          </p:cNvPr>
          <p:cNvGrpSpPr/>
          <p:nvPr/>
        </p:nvGrpSpPr>
        <p:grpSpPr>
          <a:xfrm>
            <a:off x="6270794" y="3854159"/>
            <a:ext cx="4780000" cy="523220"/>
            <a:chOff x="1848112" y="1575921"/>
            <a:chExt cx="5237952" cy="523220"/>
          </a:xfrm>
        </p:grpSpPr>
        <p:sp>
          <p:nvSpPr>
            <p:cNvPr id="51" name="TextBox 50"/>
            <p:cNvSpPr txBox="1"/>
            <p:nvPr/>
          </p:nvSpPr>
          <p:spPr>
            <a:xfrm>
              <a:off x="2578371" y="1600386"/>
              <a:ext cx="4507693" cy="369332"/>
            </a:xfrm>
            <a:prstGeom prst="rect">
              <a:avLst/>
            </a:prstGeom>
            <a:noFill/>
          </p:spPr>
          <p:txBody>
            <a:bodyPr wrap="square" lIns="108000" rIns="108000" rtlCol="0">
              <a:spAutoFit/>
            </a:bodyPr>
            <a:lstStyle/>
            <a:p>
              <a:endParaRPr lang="ko-KR" altLang="en-US" b="1" dirty="0">
                <a:solidFill>
                  <a:schemeClr val="tx1">
                    <a:lumMod val="75000"/>
                    <a:lumOff val="25000"/>
                  </a:schemeClr>
                </a:solidFill>
                <a:latin typeface="+mj-lt"/>
                <a:cs typeface="Arial" pitchFamily="34" charset="0"/>
              </a:endParaRPr>
            </a:p>
          </p:txBody>
        </p:sp>
        <p:sp>
          <p:nvSpPr>
            <p:cNvPr id="52" name="TextBox 51"/>
            <p:cNvSpPr txBox="1"/>
            <p:nvPr/>
          </p:nvSpPr>
          <p:spPr>
            <a:xfrm>
              <a:off x="1848112" y="1575921"/>
              <a:ext cx="958096" cy="523220"/>
            </a:xfrm>
            <a:prstGeom prst="rect">
              <a:avLst/>
            </a:prstGeom>
            <a:noFill/>
          </p:spPr>
          <p:txBody>
            <a:bodyPr wrap="square" lIns="108000" rIns="108000" rtlCol="0">
              <a:spAutoFit/>
            </a:bodyPr>
            <a:lstStyle/>
            <a:p>
              <a:pPr algn="ctr"/>
              <a:endParaRPr lang="ko-KR" altLang="en-US" sz="2800" b="1" dirty="0">
                <a:solidFill>
                  <a:schemeClr val="tx1">
                    <a:lumMod val="75000"/>
                    <a:lumOff val="25000"/>
                  </a:schemeClr>
                </a:solidFill>
                <a:latin typeface="+mj-lt"/>
                <a:cs typeface="Arial" pitchFamily="34" charset="0"/>
              </a:endParaRPr>
            </a:p>
          </p:txBody>
        </p:sp>
      </p:grpSp>
      <p:grpSp>
        <p:nvGrpSpPr>
          <p:cNvPr id="53" name="Group 52">
            <a:extLst>
              <a:ext uri="{FF2B5EF4-FFF2-40B4-BE49-F238E27FC236}">
                <a16:creationId xmlns="" xmlns:a16="http://schemas.microsoft.com/office/drawing/2014/main" id="{37F06B10-F2B9-45AE-BAEE-3A25BDC40F60}"/>
              </a:ext>
            </a:extLst>
          </p:cNvPr>
          <p:cNvGrpSpPr/>
          <p:nvPr/>
        </p:nvGrpSpPr>
        <p:grpSpPr>
          <a:xfrm>
            <a:off x="6383953" y="4844106"/>
            <a:ext cx="3647069" cy="807756"/>
            <a:chOff x="1848112" y="1575921"/>
            <a:chExt cx="5307517" cy="807756"/>
          </a:xfrm>
        </p:grpSpPr>
        <p:sp>
          <p:nvSpPr>
            <p:cNvPr id="54" name="TextBox 53"/>
            <p:cNvSpPr txBox="1"/>
            <p:nvPr/>
          </p:nvSpPr>
          <p:spPr>
            <a:xfrm>
              <a:off x="2647937" y="1983567"/>
              <a:ext cx="4507692" cy="400110"/>
            </a:xfrm>
            <a:prstGeom prst="rect">
              <a:avLst/>
            </a:prstGeom>
            <a:noFill/>
          </p:spPr>
          <p:txBody>
            <a:bodyPr wrap="square" rtlCol="0">
              <a:spAutoFit/>
            </a:bodyPr>
            <a:lstStyle/>
            <a:p>
              <a:r>
                <a:rPr lang="en-US" sz="1000" dirty="0" smtClean="0"/>
                <a:t> </a:t>
              </a:r>
              <a:endParaRPr lang="en-US" sz="1000" dirty="0"/>
            </a:p>
            <a:p>
              <a:endParaRPr lang="en-US" altLang="ko-KR" sz="1000" dirty="0">
                <a:solidFill>
                  <a:schemeClr val="tx1">
                    <a:lumMod val="75000"/>
                    <a:lumOff val="25000"/>
                  </a:schemeClr>
                </a:solidFill>
                <a:latin typeface="+mj-lt"/>
                <a:cs typeface="Arial" pitchFamily="34" charset="0"/>
              </a:endParaRPr>
            </a:p>
          </p:txBody>
        </p:sp>
        <p:sp>
          <p:nvSpPr>
            <p:cNvPr id="55" name="TextBox 54"/>
            <p:cNvSpPr txBox="1"/>
            <p:nvPr/>
          </p:nvSpPr>
          <p:spPr>
            <a:xfrm>
              <a:off x="2647936" y="1626099"/>
              <a:ext cx="4507693" cy="369332"/>
            </a:xfrm>
            <a:prstGeom prst="rect">
              <a:avLst/>
            </a:prstGeom>
            <a:noFill/>
          </p:spPr>
          <p:txBody>
            <a:bodyPr wrap="square" lIns="108000" rIns="108000" rtlCol="0">
              <a:spAutoFit/>
            </a:bodyPr>
            <a:lstStyle/>
            <a:p>
              <a:endParaRPr lang="ko-KR" altLang="en-US" b="1" dirty="0">
                <a:solidFill>
                  <a:schemeClr val="tx1">
                    <a:lumMod val="75000"/>
                    <a:lumOff val="25000"/>
                  </a:schemeClr>
                </a:solidFill>
                <a:latin typeface="+mj-lt"/>
                <a:cs typeface="Arial" pitchFamily="34" charset="0"/>
              </a:endParaRPr>
            </a:p>
          </p:txBody>
        </p:sp>
        <p:sp>
          <p:nvSpPr>
            <p:cNvPr id="56" name="TextBox 55"/>
            <p:cNvSpPr txBox="1"/>
            <p:nvPr/>
          </p:nvSpPr>
          <p:spPr>
            <a:xfrm>
              <a:off x="1848112" y="1575921"/>
              <a:ext cx="958096" cy="523220"/>
            </a:xfrm>
            <a:prstGeom prst="rect">
              <a:avLst/>
            </a:prstGeom>
            <a:noFill/>
          </p:spPr>
          <p:txBody>
            <a:bodyPr wrap="square" lIns="108000" rIns="108000" rtlCol="0">
              <a:spAutoFit/>
            </a:bodyPr>
            <a:lstStyle/>
            <a:p>
              <a:pPr algn="ctr"/>
              <a:endParaRPr lang="ko-KR" altLang="en-US" sz="2800" b="1" dirty="0">
                <a:solidFill>
                  <a:schemeClr val="tx1">
                    <a:lumMod val="75000"/>
                    <a:lumOff val="25000"/>
                  </a:schemeClr>
                </a:solidFill>
                <a:latin typeface="+mj-lt"/>
                <a:cs typeface="Arial" pitchFamily="34" charset="0"/>
              </a:endParaRPr>
            </a:p>
          </p:txBody>
        </p:sp>
      </p:grpSp>
      <p:sp>
        <p:nvSpPr>
          <p:cNvPr id="2" name="Date Placeholder 1">
            <a:extLst>
              <a:ext uri="{FF2B5EF4-FFF2-40B4-BE49-F238E27FC236}">
                <a16:creationId xmlns="" xmlns:a16="http://schemas.microsoft.com/office/drawing/2014/main" id="{AEB98BC4-8BDF-A31B-7F68-4F2971CA6C9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61AF60D-223D-461F-A92F-539B6F408AF0}"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4 August 2026</a:t>
            </a:fld>
            <a:endParaRPr kumimoji="0" lang="en-US" sz="1200" b="0" i="0" u="none" strike="noStrike" kern="1200" cap="none" spc="0" normalizeH="0" baseline="0" noProof="0">
              <a:ln>
                <a:noFill/>
              </a:ln>
              <a:solidFill>
                <a:schemeClr val="tx1"/>
              </a:solidFill>
              <a:effectLst/>
              <a:uLnTx/>
              <a:uFillTx/>
              <a:latin typeface="Roboto Slab"/>
              <a:ea typeface="+mn-ea"/>
              <a:cs typeface="+mn-cs"/>
            </a:endParaRPr>
          </a:p>
        </p:txBody>
      </p:sp>
      <p:sp>
        <p:nvSpPr>
          <p:cNvPr id="6" name="Footer Placeholder 5">
            <a:extLst>
              <a:ext uri="{FF2B5EF4-FFF2-40B4-BE49-F238E27FC236}">
                <a16:creationId xmlns="" xmlns:a16="http://schemas.microsoft.com/office/drawing/2014/main" id="{55B31472-8299-9197-981E-6E011EBDF926}"/>
              </a:ext>
            </a:extLst>
          </p:cNvPr>
          <p:cNvSpPr>
            <a:spLocks noGrp="1"/>
          </p:cNvSpPr>
          <p:nvPr>
            <p:ph type="ftr" sz="quarter" idx="3"/>
          </p:nvPr>
        </p:nvSpPr>
        <p:spPr/>
        <p:txBody>
          <a:bodyPr/>
          <a:lstStyle/>
          <a:p>
            <a:pPr>
              <a:defRPr/>
            </a:pPr>
            <a:r>
              <a:rPr lang="en-US">
                <a:solidFill>
                  <a:schemeClr val="tx1"/>
                </a:solidFill>
              </a:rPr>
              <a:t>REVA Academy for Corporate Excellence – RACE | race.reva.edu.in</a:t>
            </a:r>
            <a:endParaRPr lang="en-US" dirty="0">
              <a:solidFill>
                <a:schemeClr val="tx1"/>
              </a:solidFill>
            </a:endParaRPr>
          </a:p>
        </p:txBody>
      </p:sp>
      <p:sp>
        <p:nvSpPr>
          <p:cNvPr id="8" name="Slide Number Placeholder 7">
            <a:extLst>
              <a:ext uri="{FF2B5EF4-FFF2-40B4-BE49-F238E27FC236}">
                <a16:creationId xmlns="" xmlns:a16="http://schemas.microsoft.com/office/drawing/2014/main" id="{7085CCD4-5663-6CFF-9C18-AE2E2E78DD84}"/>
              </a:ext>
            </a:extLst>
          </p:cNvPr>
          <p:cNvSpPr>
            <a:spLocks noGrp="1"/>
          </p:cNvSpPr>
          <p:nvPr>
            <p:ph type="sldNum" sz="quarter" idx="12"/>
          </p:nvPr>
        </p:nvSpPr>
        <p:spPr/>
        <p:txBody>
          <a:bodyPr/>
          <a:lstStyle/>
          <a:p>
            <a:pPr>
              <a:defRPr/>
            </a:pPr>
            <a:r>
              <a:rPr lang="en-US" dirty="0"/>
              <a:t>2</a:t>
            </a:r>
            <a:endParaRPr lang="en-US" dirty="0"/>
          </a:p>
        </p:txBody>
      </p:sp>
      <p:sp>
        <p:nvSpPr>
          <p:cNvPr id="7" name="Rectangle 6">
            <a:extLst>
              <a:ext uri="{FF2B5EF4-FFF2-40B4-BE49-F238E27FC236}">
                <a16:creationId xmlns="" xmlns:a16="http://schemas.microsoft.com/office/drawing/2014/main" id="{9720F7DD-ADEE-B80B-303F-E825FFC65632}"/>
              </a:ext>
            </a:extLst>
          </p:cNvPr>
          <p:cNvSpPr/>
          <p:nvPr/>
        </p:nvSpPr>
        <p:spPr>
          <a:xfrm>
            <a:off x="6958021" y="3123126"/>
            <a:ext cx="2638864" cy="253916"/>
          </a:xfrm>
          <a:prstGeom prst="rect">
            <a:avLst/>
          </a:prstGeom>
        </p:spPr>
        <p:txBody>
          <a:bodyPr wrap="none">
            <a:spAutoFit/>
          </a:bodyPr>
          <a:lstStyle/>
          <a:p>
            <a:r>
              <a:rPr lang="en-US" sz="1050" dirty="0"/>
              <a:t>Solution Approach | Expected Outcome</a:t>
            </a:r>
          </a:p>
        </p:txBody>
      </p:sp>
    </p:spTree>
    <p:extLst>
      <p:ext uri="{BB962C8B-B14F-4D97-AF65-F5344CB8AC3E}">
        <p14:creationId xmlns:p14="http://schemas.microsoft.com/office/powerpoint/2010/main" val="3248360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F1AFB0D-B6BF-17A1-5083-D53D1C7FC77C}"/>
            </a:ext>
          </a:extLst>
        </p:cNvPr>
        <p:cNvGrpSpPr/>
        <p:nvPr/>
      </p:nvGrpSpPr>
      <p:grpSpPr>
        <a:xfrm>
          <a:off x="0" y="0"/>
          <a:ext cx="0" cy="0"/>
          <a:chOff x="0" y="0"/>
          <a:chExt cx="0" cy="0"/>
        </a:xfrm>
      </p:grpSpPr>
      <p:sp>
        <p:nvSpPr>
          <p:cNvPr id="5" name="Title 4">
            <a:extLst>
              <a:ext uri="{FF2B5EF4-FFF2-40B4-BE49-F238E27FC236}">
                <a16:creationId xmlns="" xmlns:a16="http://schemas.microsoft.com/office/drawing/2014/main" id="{BA7B6815-C78F-C537-5A38-1CF8A9D56589}"/>
              </a:ext>
            </a:extLst>
          </p:cNvPr>
          <p:cNvSpPr>
            <a:spLocks noGrp="1"/>
          </p:cNvSpPr>
          <p:nvPr>
            <p:ph type="title"/>
          </p:nvPr>
        </p:nvSpPr>
        <p:spPr/>
        <p:txBody>
          <a:bodyPr>
            <a:normAutofit/>
          </a:bodyPr>
          <a:lstStyle/>
          <a:p>
            <a:r>
              <a:rPr lang="en-US" dirty="0"/>
              <a:t>Introduction</a:t>
            </a:r>
            <a:endParaRPr lang="en-IN" dirty="0"/>
          </a:p>
        </p:txBody>
      </p:sp>
      <p:sp>
        <p:nvSpPr>
          <p:cNvPr id="4" name="Date Placeholder 3">
            <a:extLst>
              <a:ext uri="{FF2B5EF4-FFF2-40B4-BE49-F238E27FC236}">
                <a16:creationId xmlns="" xmlns:a16="http://schemas.microsoft.com/office/drawing/2014/main" id="{B81F57BA-F00B-F8C5-25C8-23E2885C9E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3B8BAC-E469-4454-8372-98C2A6AAEDD1}" type="datetime3">
              <a:rPr kumimoji="0" lang="en-US" sz="1200" b="0" i="0" u="none" strike="noStrike" kern="1200" cap="none" spc="0" normalizeH="0" baseline="0" noProof="0" smtClean="0">
                <a:ln>
                  <a:noFill/>
                </a:ln>
                <a:solidFill>
                  <a:schemeClr val="tx1"/>
                </a:solidFill>
                <a:effectLst/>
                <a:uLnTx/>
                <a:uFillTx/>
                <a:latin typeface="Roboto Slab"/>
                <a:ea typeface="+mn-ea"/>
                <a:cs typeface="+mn-cs"/>
              </a:rPr>
              <a:t>4 August 2026</a:t>
            </a:fld>
            <a:endParaRPr kumimoji="0" lang="en-US" sz="1200" b="0" i="0" u="none" strike="noStrike" kern="1200" cap="none" spc="0" normalizeH="0" baseline="0" noProof="0" dirty="0">
              <a:ln>
                <a:noFill/>
              </a:ln>
              <a:solidFill>
                <a:schemeClr val="tx1"/>
              </a:solidFill>
              <a:effectLst/>
              <a:uLnTx/>
              <a:uFillTx/>
              <a:latin typeface="Roboto Slab"/>
              <a:ea typeface="+mn-ea"/>
              <a:cs typeface="+mn-cs"/>
            </a:endParaRPr>
          </a:p>
        </p:txBody>
      </p:sp>
      <p:sp>
        <p:nvSpPr>
          <p:cNvPr id="6" name="Slide Number Placeholder 5">
            <a:extLst>
              <a:ext uri="{FF2B5EF4-FFF2-40B4-BE49-F238E27FC236}">
                <a16:creationId xmlns="" xmlns:a16="http://schemas.microsoft.com/office/drawing/2014/main" id="{0F793F2A-7EE2-ED4A-3A00-B6A8A492B5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3</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2" name="Footer Placeholder 1">
            <a:extLst>
              <a:ext uri="{FF2B5EF4-FFF2-40B4-BE49-F238E27FC236}">
                <a16:creationId xmlns="" xmlns:a16="http://schemas.microsoft.com/office/drawing/2014/main" id="{38C9784C-F8E2-45C6-7051-69C00F20FDA3}"/>
              </a:ext>
            </a:extLst>
          </p:cNvPr>
          <p:cNvSpPr>
            <a:spLocks noGrp="1"/>
          </p:cNvSpPr>
          <p:nvPr>
            <p:ph type="ftr" sz="quarter" idx="3"/>
          </p:nvPr>
        </p:nvSpPr>
        <p:spPr/>
        <p:txBody>
          <a:bodyPr/>
          <a:lstStyle/>
          <a:p>
            <a:pPr algn="r">
              <a:defRPr/>
            </a:pPr>
            <a:r>
              <a:rPr lang="en-US">
                <a:solidFill>
                  <a:schemeClr val="tx1"/>
                </a:solidFill>
              </a:rPr>
              <a:t>REVA Academy for Corporate Excellence – RACE | race.reva.edu.in</a:t>
            </a:r>
            <a:endParaRPr lang="en-US" dirty="0">
              <a:solidFill>
                <a:schemeClr val="tx1"/>
              </a:solidFill>
            </a:endParaRPr>
          </a:p>
        </p:txBody>
      </p:sp>
      <p:sp>
        <p:nvSpPr>
          <p:cNvPr id="10" name="TextBox 9">
            <a:extLst>
              <a:ext uri="{FF2B5EF4-FFF2-40B4-BE49-F238E27FC236}">
                <a16:creationId xmlns="" xmlns:a16="http://schemas.microsoft.com/office/drawing/2014/main" id="{D330C221-E811-F7DC-34A3-EC54DD99C0E3}"/>
              </a:ext>
            </a:extLst>
          </p:cNvPr>
          <p:cNvSpPr txBox="1"/>
          <p:nvPr/>
        </p:nvSpPr>
        <p:spPr>
          <a:xfrm>
            <a:off x="8797071" y="1162092"/>
            <a:ext cx="3140453" cy="246221"/>
          </a:xfrm>
          <a:prstGeom prst="rect">
            <a:avLst/>
          </a:prstGeom>
          <a:noFill/>
        </p:spPr>
        <p:txBody>
          <a:bodyPr wrap="square" rtlCol="0">
            <a:spAutoFit/>
          </a:bodyPr>
          <a:lstStyle/>
          <a:p>
            <a:r>
              <a:rPr lang="en-US" altLang="ko-KR" sz="1000" dirty="0" smtClean="0">
                <a:solidFill>
                  <a:srgbClr val="FF0000"/>
                </a:solidFill>
                <a:latin typeface="+mj-lt"/>
                <a:cs typeface="Arial" pitchFamily="34" charset="0"/>
              </a:rPr>
              <a:t>  </a:t>
            </a:r>
            <a:endParaRPr lang="en-US" altLang="ko-KR" sz="1000" dirty="0">
              <a:solidFill>
                <a:srgbClr val="FF0000"/>
              </a:solidFill>
              <a:latin typeface="+mj-lt"/>
              <a:cs typeface="Arial" pitchFamily="34" charset="0"/>
            </a:endParaRPr>
          </a:p>
        </p:txBody>
      </p:sp>
      <p:sp>
        <p:nvSpPr>
          <p:cNvPr id="3" name="Rectangle 1"/>
          <p:cNvSpPr>
            <a:spLocks noChangeArrowheads="1"/>
          </p:cNvSpPr>
          <p:nvPr/>
        </p:nvSpPr>
        <p:spPr bwMode="auto">
          <a:xfrm>
            <a:off x="870857" y="952199"/>
            <a:ext cx="10245112"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Measures heart rate without any physical contact using a standard camera.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Detects and recognizes the user's face in real time.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Extracts the forehead Region of Interest (ROI) for heart rate analysis.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Uses CHROM and POS </a:t>
            </a:r>
            <a:r>
              <a:rPr kumimoji="0" lang="en-US" altLang="en-US" sz="1800" i="0" u="none" strike="noStrike" cap="none" normalizeH="0" baseline="0" dirty="0" err="1" smtClean="0">
                <a:ln>
                  <a:noFill/>
                </a:ln>
                <a:solidFill>
                  <a:schemeClr val="tx1"/>
                </a:solidFill>
                <a:effectLst/>
                <a:latin typeface="Arial" panose="020B0604020202020204" pitchFamily="34" charset="0"/>
              </a:rPr>
              <a:t>rPPG</a:t>
            </a:r>
            <a:r>
              <a:rPr kumimoji="0" lang="en-US" altLang="en-US" sz="1800" i="0" u="none" strike="noStrike" cap="none" normalizeH="0" baseline="0" dirty="0" smtClean="0">
                <a:ln>
                  <a:noFill/>
                </a:ln>
                <a:solidFill>
                  <a:schemeClr val="tx1"/>
                </a:solidFill>
                <a:effectLst/>
                <a:latin typeface="Arial" panose="020B0604020202020204" pitchFamily="34" charset="0"/>
              </a:rPr>
              <a:t> algorithms to estimate heart rate from subtle skin color changes.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Applies signal filtering to improve accuracy and reduce noise.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Displays the heart rate continuously in real time.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Can be used for healthcare</a:t>
            </a:r>
            <a:r>
              <a:rPr kumimoji="0" lang="en-US" altLang="en-US" sz="1800" i="0" u="none" strike="noStrike" cap="none" normalizeH="0" dirty="0" smtClean="0">
                <a:ln>
                  <a:noFill/>
                </a:ln>
                <a:solidFill>
                  <a:schemeClr val="tx1"/>
                </a:solidFill>
                <a:effectLst/>
                <a:latin typeface="Arial" panose="020B0604020202020204" pitchFamily="34" charset="0"/>
              </a:rPr>
              <a:t> and</a:t>
            </a:r>
            <a:r>
              <a:rPr kumimoji="0" lang="en-US" altLang="en-US" sz="1800" i="0" u="none" strike="noStrike" cap="none" normalizeH="0" baseline="0" dirty="0" smtClean="0">
                <a:ln>
                  <a:noFill/>
                </a:ln>
                <a:solidFill>
                  <a:schemeClr val="tx1"/>
                </a:solidFill>
                <a:effectLst/>
                <a:latin typeface="Arial" panose="020B0604020202020204" pitchFamily="34" charset="0"/>
              </a:rPr>
              <a:t> fitness monitoring.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437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B0DE61-58C3-25BA-C95A-5D5322CF7198}"/>
              </a:ext>
            </a:extLst>
          </p:cNvPr>
          <p:cNvSpPr>
            <a:spLocks noGrp="1"/>
          </p:cNvSpPr>
          <p:nvPr>
            <p:ph type="title"/>
          </p:nvPr>
        </p:nvSpPr>
        <p:spPr>
          <a:xfrm>
            <a:off x="3399919" y="304490"/>
            <a:ext cx="8382000" cy="670055"/>
          </a:xfrm>
        </p:spPr>
        <p:txBody>
          <a:bodyPr>
            <a:normAutofit/>
          </a:bodyPr>
          <a:lstStyle/>
          <a:p>
            <a:r>
              <a:rPr lang="en-US" altLang="ko-KR" dirty="0">
                <a:cs typeface="Arial" panose="020B0604020202020204" pitchFamily="34" charset="0"/>
              </a:rPr>
              <a:t>Literature Review</a:t>
            </a:r>
            <a:endParaRPr lang="en-IN" dirty="0">
              <a:cs typeface="Arial" panose="020B0604020202020204" pitchFamily="34" charset="0"/>
            </a:endParaRPr>
          </a:p>
        </p:txBody>
      </p:sp>
      <p:sp>
        <p:nvSpPr>
          <p:cNvPr id="3" name="Date Placeholder 2">
            <a:extLst>
              <a:ext uri="{FF2B5EF4-FFF2-40B4-BE49-F238E27FC236}">
                <a16:creationId xmlns="" xmlns:a16="http://schemas.microsoft.com/office/drawing/2014/main" id="{AC3AF0E5-4D51-3DB0-2EAE-F7C3562A81C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3CDB30-232F-4967-8FE5-2B51CA38926D}"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graphicFrame>
        <p:nvGraphicFramePr>
          <p:cNvPr id="5" name="Table 7">
            <a:extLst>
              <a:ext uri="{FF2B5EF4-FFF2-40B4-BE49-F238E27FC236}">
                <a16:creationId xmlns="" xmlns:a16="http://schemas.microsoft.com/office/drawing/2014/main" id="{608B7B81-BA66-02A6-C7F3-B332395FCC34}"/>
              </a:ext>
            </a:extLst>
          </p:cNvPr>
          <p:cNvGraphicFramePr>
            <a:graphicFrameLocks noGrp="1"/>
          </p:cNvGraphicFramePr>
          <p:nvPr>
            <p:extLst>
              <p:ext uri="{D42A27DB-BD31-4B8C-83A1-F6EECF244321}">
                <p14:modId xmlns:p14="http://schemas.microsoft.com/office/powerpoint/2010/main" val="3054877901"/>
              </p:ext>
            </p:extLst>
          </p:nvPr>
        </p:nvGraphicFramePr>
        <p:xfrm>
          <a:off x="1314994" y="1580028"/>
          <a:ext cx="9910355" cy="4233250"/>
        </p:xfrm>
        <a:graphic>
          <a:graphicData uri="http://schemas.openxmlformats.org/drawingml/2006/table">
            <a:tbl>
              <a:tblPr firstRow="1" bandRow="1">
                <a:tableStyleId>{073A0DAA-6AF3-43AB-8588-CEC1D06C72B9}</a:tableStyleId>
              </a:tblPr>
              <a:tblGrid>
                <a:gridCol w="644915">
                  <a:extLst>
                    <a:ext uri="{9D8B030D-6E8A-4147-A177-3AD203B41FA5}">
                      <a16:colId xmlns="" xmlns:a16="http://schemas.microsoft.com/office/drawing/2014/main" val="1961210798"/>
                    </a:ext>
                  </a:extLst>
                </a:gridCol>
                <a:gridCol w="1455394">
                  <a:extLst>
                    <a:ext uri="{9D8B030D-6E8A-4147-A177-3AD203B41FA5}">
                      <a16:colId xmlns="" xmlns:a16="http://schemas.microsoft.com/office/drawing/2014/main" val="3306537469"/>
                    </a:ext>
                  </a:extLst>
                </a:gridCol>
                <a:gridCol w="1571536">
                  <a:extLst>
                    <a:ext uri="{9D8B030D-6E8A-4147-A177-3AD203B41FA5}">
                      <a16:colId xmlns="" xmlns:a16="http://schemas.microsoft.com/office/drawing/2014/main" val="1633340882"/>
                    </a:ext>
                  </a:extLst>
                </a:gridCol>
                <a:gridCol w="904578">
                  <a:extLst>
                    <a:ext uri="{9D8B030D-6E8A-4147-A177-3AD203B41FA5}">
                      <a16:colId xmlns="" xmlns:a16="http://schemas.microsoft.com/office/drawing/2014/main" val="16426956"/>
                    </a:ext>
                  </a:extLst>
                </a:gridCol>
                <a:gridCol w="1485866">
                  <a:extLst>
                    <a:ext uri="{9D8B030D-6E8A-4147-A177-3AD203B41FA5}">
                      <a16:colId xmlns="" xmlns:a16="http://schemas.microsoft.com/office/drawing/2014/main" val="333333027"/>
                    </a:ext>
                  </a:extLst>
                </a:gridCol>
                <a:gridCol w="1485866">
                  <a:extLst>
                    <a:ext uri="{9D8B030D-6E8A-4147-A177-3AD203B41FA5}">
                      <a16:colId xmlns="" xmlns:a16="http://schemas.microsoft.com/office/drawing/2014/main" val="858140143"/>
                    </a:ext>
                  </a:extLst>
                </a:gridCol>
                <a:gridCol w="2362200">
                  <a:extLst>
                    <a:ext uri="{9D8B030D-6E8A-4147-A177-3AD203B41FA5}">
                      <a16:colId xmlns="" xmlns:a16="http://schemas.microsoft.com/office/drawing/2014/main" val="367764134"/>
                    </a:ext>
                  </a:extLst>
                </a:gridCol>
              </a:tblGrid>
              <a:tr h="575650">
                <a:tc>
                  <a:txBody>
                    <a:bodyPr/>
                    <a:lstStyle/>
                    <a:p>
                      <a:pPr algn="ctr"/>
                      <a:r>
                        <a:rPr lang="en-IN" sz="1400" dirty="0"/>
                        <a:t>No.</a:t>
                      </a:r>
                    </a:p>
                  </a:txBody>
                  <a:tcPr anchor="ctr"/>
                </a:tc>
                <a:tc>
                  <a:txBody>
                    <a:bodyPr/>
                    <a:lstStyle/>
                    <a:p>
                      <a:pPr algn="ctr"/>
                      <a:r>
                        <a:rPr lang="en-IN" sz="1400" dirty="0"/>
                        <a:t>Title</a:t>
                      </a:r>
                    </a:p>
                  </a:txBody>
                  <a:tcPr anchor="ctr"/>
                </a:tc>
                <a:tc>
                  <a:txBody>
                    <a:bodyPr/>
                    <a:lstStyle/>
                    <a:p>
                      <a:pPr algn="ctr"/>
                      <a:r>
                        <a:rPr lang="en-IN" sz="1400" dirty="0"/>
                        <a:t>Author and Year</a:t>
                      </a:r>
                    </a:p>
                  </a:txBody>
                  <a:tcPr anchor="ctr"/>
                </a:tc>
                <a:tc>
                  <a:txBody>
                    <a:bodyPr/>
                    <a:lstStyle/>
                    <a:p>
                      <a:pPr algn="ctr"/>
                      <a:r>
                        <a:rPr lang="en-IN" sz="1400" dirty="0"/>
                        <a:t>Journal </a:t>
                      </a:r>
                    </a:p>
                  </a:txBody>
                  <a:tcPr anchor="ctr"/>
                </a:tc>
                <a:tc>
                  <a:txBody>
                    <a:bodyPr/>
                    <a:lstStyle/>
                    <a:p>
                      <a:pPr algn="ctr"/>
                      <a:r>
                        <a:rPr lang="en-IN" sz="1400" dirty="0"/>
                        <a:t>Description</a:t>
                      </a:r>
                    </a:p>
                  </a:txBody>
                  <a:tcPr anchor="ctr"/>
                </a:tc>
                <a:tc>
                  <a:txBody>
                    <a:bodyPr/>
                    <a:lstStyle/>
                    <a:p>
                      <a:pPr algn="ctr"/>
                      <a:r>
                        <a:rPr lang="en-IN" sz="1400" dirty="0"/>
                        <a:t>Insights </a:t>
                      </a:r>
                    </a:p>
                  </a:txBody>
                  <a:tcPr anchor="ctr"/>
                </a:tc>
                <a:tc>
                  <a:txBody>
                    <a:bodyPr/>
                    <a:lstStyle/>
                    <a:p>
                      <a:pPr algn="ctr"/>
                      <a:r>
                        <a:rPr lang="en-IN" sz="1400" dirty="0"/>
                        <a:t>Research Gaps/Comments</a:t>
                      </a:r>
                    </a:p>
                  </a:txBody>
                  <a:tcPr anchor="ctr"/>
                </a:tc>
                <a:extLst>
                  <a:ext uri="{0D108BD9-81ED-4DB2-BD59-A6C34878D82A}">
                    <a16:rowId xmlns="" xmlns:a16="http://schemas.microsoft.com/office/drawing/2014/main" val="1770980956"/>
                  </a:ext>
                </a:extLst>
              </a:tr>
              <a:tr h="772659">
                <a:tc>
                  <a:txBody>
                    <a:bodyPr/>
                    <a:lstStyle/>
                    <a:p>
                      <a:r>
                        <a:rPr sz="900"/>
                        <a:t>1</a:t>
                      </a:r>
                    </a:p>
                  </a:txBody>
                  <a:tcPr anchor="ctr"/>
                </a:tc>
                <a:tc>
                  <a:txBody>
                    <a:bodyPr/>
                    <a:lstStyle/>
                    <a:p>
                      <a:r>
                        <a:rPr sz="900" dirty="0"/>
                        <a:t>Passive Heart Rate Monitoring During Smartphone Use in Everyday Life</a:t>
                      </a:r>
                    </a:p>
                  </a:txBody>
                  <a:tcPr anchor="ctr"/>
                </a:tc>
                <a:tc>
                  <a:txBody>
                    <a:bodyPr/>
                    <a:lstStyle/>
                    <a:p>
                      <a:r>
                        <a:rPr sz="900" dirty="0"/>
                        <a:t>Liao et al., 2025</a:t>
                      </a:r>
                    </a:p>
                  </a:txBody>
                  <a:tcPr anchor="ctr"/>
                </a:tc>
                <a:tc>
                  <a:txBody>
                    <a:bodyPr/>
                    <a:lstStyle/>
                    <a:p>
                      <a:r>
                        <a:rPr sz="900"/>
                        <a:t>arXiv preprint</a:t>
                      </a:r>
                    </a:p>
                  </a:txBody>
                  <a:tcPr anchor="ctr"/>
                </a:tc>
                <a:tc>
                  <a:txBody>
                    <a:bodyPr/>
                    <a:lstStyle/>
                    <a:p>
                      <a:r>
                        <a:rPr sz="900"/>
                        <a:t>Large-scale (225k+ videos) passive smartphone-camera HR estimation via deep learning across diverse skin tones</a:t>
                      </a:r>
                    </a:p>
                  </a:txBody>
                  <a:tcPr anchor="ctr"/>
                </a:tc>
                <a:tc>
                  <a:txBody>
                    <a:bodyPr/>
                    <a:lstStyle/>
                    <a:p>
                      <a:r>
                        <a:rPr sz="900"/>
                        <a:t>&lt;10% MAPE; validated at population scale</a:t>
                      </a:r>
                    </a:p>
                  </a:txBody>
                  <a:tcPr anchor="ctr"/>
                </a:tc>
                <a:tc>
                  <a:txBody>
                    <a:bodyPr/>
                    <a:lstStyle/>
                    <a:p>
                      <a:r>
                        <a:rPr sz="900"/>
                        <a:t>DL needs large training data; less interpretable than classical methods</a:t>
                      </a:r>
                    </a:p>
                  </a:txBody>
                  <a:tcPr anchor="ctr"/>
                </a:tc>
                <a:extLst>
                  <a:ext uri="{0D108BD9-81ED-4DB2-BD59-A6C34878D82A}">
                    <a16:rowId xmlns="" xmlns:a16="http://schemas.microsoft.com/office/drawing/2014/main" val="1772393717"/>
                  </a:ext>
                </a:extLst>
              </a:tr>
              <a:tr h="772659">
                <a:tc>
                  <a:txBody>
                    <a:bodyPr/>
                    <a:lstStyle/>
                    <a:p>
                      <a:r>
                        <a:rPr sz="900" dirty="0"/>
                        <a:t>2</a:t>
                      </a:r>
                    </a:p>
                  </a:txBody>
                  <a:tcPr anchor="ctr"/>
                </a:tc>
                <a:tc>
                  <a:txBody>
                    <a:bodyPr/>
                    <a:lstStyle/>
                    <a:p>
                      <a:r>
                        <a:rPr sz="900" dirty="0"/>
                        <a:t>A Comprehensive Review of Heart Rate Measurement Using Remote </a:t>
                      </a:r>
                      <a:r>
                        <a:rPr sz="900" dirty="0" err="1"/>
                        <a:t>Photoplethysmography</a:t>
                      </a:r>
                      <a:r>
                        <a:rPr sz="900" dirty="0"/>
                        <a:t> and Deep Learning</a:t>
                      </a:r>
                    </a:p>
                  </a:txBody>
                  <a:tcPr anchor="ctr"/>
                </a:tc>
                <a:tc>
                  <a:txBody>
                    <a:bodyPr/>
                    <a:lstStyle/>
                    <a:p>
                      <a:r>
                        <a:rPr sz="900"/>
                        <a:t>Debnath &amp; Kim, 2025</a:t>
                      </a:r>
                    </a:p>
                  </a:txBody>
                  <a:tcPr anchor="ctr"/>
                </a:tc>
                <a:tc>
                  <a:txBody>
                    <a:bodyPr/>
                    <a:lstStyle/>
                    <a:p>
                      <a:r>
                        <a:rPr sz="900"/>
                        <a:t>BioMedical Engineering OnLine</a:t>
                      </a:r>
                    </a:p>
                  </a:txBody>
                  <a:tcPr anchor="ctr"/>
                </a:tc>
                <a:tc>
                  <a:txBody>
                    <a:bodyPr/>
                    <a:lstStyle/>
                    <a:p>
                      <a:r>
                        <a:rPr sz="900"/>
                        <a:t>Systematic review of 145 rPPG + DL studies</a:t>
                      </a:r>
                    </a:p>
                  </a:txBody>
                  <a:tcPr anchor="ctr"/>
                </a:tc>
                <a:tc>
                  <a:txBody>
                    <a:bodyPr/>
                    <a:lstStyle/>
                    <a:p>
                      <a:r>
                        <a:rPr sz="900"/>
                        <a:t>DL outperforms classical methods on accuracy but generalises poorly across datasets</a:t>
                      </a:r>
                    </a:p>
                  </a:txBody>
                  <a:tcPr anchor="ctr"/>
                </a:tc>
                <a:tc>
                  <a:txBody>
                    <a:bodyPr/>
                    <a:lstStyle/>
                    <a:p>
                      <a:r>
                        <a:rPr sz="900" dirty="0"/>
                        <a:t>Highlights lack of deployable, end-to-end </a:t>
                      </a:r>
                      <a:r>
                        <a:rPr sz="900" dirty="0" err="1"/>
                        <a:t>rPPG</a:t>
                      </a:r>
                      <a:r>
                        <a:rPr sz="900" dirty="0"/>
                        <a:t> systems — the gap this project targets</a:t>
                      </a:r>
                    </a:p>
                  </a:txBody>
                  <a:tcPr anchor="ctr"/>
                </a:tc>
                <a:extLst>
                  <a:ext uri="{0D108BD9-81ED-4DB2-BD59-A6C34878D82A}">
                    <a16:rowId xmlns="" xmlns:a16="http://schemas.microsoft.com/office/drawing/2014/main" val="4128284863"/>
                  </a:ext>
                </a:extLst>
              </a:tr>
              <a:tr h="772659">
                <a:tc>
                  <a:txBody>
                    <a:bodyPr/>
                    <a:lstStyle/>
                    <a:p>
                      <a:r>
                        <a:rPr sz="900"/>
                        <a:t>3</a:t>
                      </a:r>
                    </a:p>
                  </a:txBody>
                  <a:tcPr anchor="ctr"/>
                </a:tc>
                <a:tc>
                  <a:txBody>
                    <a:bodyPr/>
                    <a:lstStyle/>
                    <a:p>
                      <a:r>
                        <a:rPr sz="900" dirty="0"/>
                        <a:t>Generalization of Video-Based Heart Rate Estimation Methods to Low Illumination and Elevated Heart Rates</a:t>
                      </a:r>
                    </a:p>
                  </a:txBody>
                  <a:tcPr anchor="ctr"/>
                </a:tc>
                <a:tc>
                  <a:txBody>
                    <a:bodyPr/>
                    <a:lstStyle/>
                    <a:p>
                      <a:r>
                        <a:rPr sz="900" dirty="0"/>
                        <a:t>Acharya et al., 2025</a:t>
                      </a:r>
                    </a:p>
                  </a:txBody>
                  <a:tcPr anchor="ctr"/>
                </a:tc>
                <a:tc>
                  <a:txBody>
                    <a:bodyPr/>
                    <a:lstStyle/>
                    <a:p>
                      <a:r>
                        <a:rPr sz="900" dirty="0" err="1"/>
                        <a:t>arXiv</a:t>
                      </a:r>
                      <a:r>
                        <a:rPr sz="900" dirty="0"/>
                        <a:t> preprint</a:t>
                      </a:r>
                    </a:p>
                  </a:txBody>
                  <a:tcPr anchor="ctr"/>
                </a:tc>
                <a:tc>
                  <a:txBody>
                    <a:bodyPr/>
                    <a:lstStyle/>
                    <a:p>
                      <a:r>
                        <a:rPr sz="900"/>
                        <a:t>Benchmarks classical vs. DL rPPG under low light &amp; high HR (CHILL dataset)</a:t>
                      </a:r>
                    </a:p>
                  </a:txBody>
                  <a:tcPr anchor="ctr"/>
                </a:tc>
                <a:tc>
                  <a:txBody>
                    <a:bodyPr/>
                    <a:lstStyle/>
                    <a:p>
                      <a:r>
                        <a:rPr sz="900"/>
                        <a:t>Classical methods (CHROM/POS) more stable than DL under challenging conditions</a:t>
                      </a:r>
                    </a:p>
                  </a:txBody>
                  <a:tcPr anchor="ctr"/>
                </a:tc>
                <a:tc>
                  <a:txBody>
                    <a:bodyPr/>
                    <a:lstStyle/>
                    <a:p>
                      <a:r>
                        <a:rPr sz="900" dirty="0"/>
                        <a:t>Motivates classical algorithm choice for a robust project baseline</a:t>
                      </a:r>
                    </a:p>
                  </a:txBody>
                  <a:tcPr anchor="ctr"/>
                </a:tc>
                <a:extLst>
                  <a:ext uri="{0D108BD9-81ED-4DB2-BD59-A6C34878D82A}">
                    <a16:rowId xmlns="" xmlns:a16="http://schemas.microsoft.com/office/drawing/2014/main" val="2924518318"/>
                  </a:ext>
                </a:extLst>
              </a:tr>
              <a:tr h="909011">
                <a:tc>
                  <a:txBody>
                    <a:bodyPr/>
                    <a:lstStyle/>
                    <a:p>
                      <a:r>
                        <a:rPr lang="en-US" sz="900" dirty="0" smtClean="0"/>
                        <a:t>4</a:t>
                      </a:r>
                      <a:endParaRPr sz="900" dirty="0"/>
                    </a:p>
                  </a:txBody>
                  <a:tcPr anchor="ctr"/>
                </a:tc>
                <a:tc>
                  <a:txBody>
                    <a:bodyPr/>
                    <a:lstStyle/>
                    <a:p>
                      <a:r>
                        <a:rPr sz="900" dirty="0"/>
                        <a:t>Facial Remote </a:t>
                      </a:r>
                      <a:r>
                        <a:rPr sz="900" dirty="0" err="1"/>
                        <a:t>Photoplethysmography</a:t>
                      </a:r>
                      <a:r>
                        <a:rPr sz="900" dirty="0"/>
                        <a:t> for Continuous HR Monitoring during Prolonged Cold Liquid Bolus Administration</a:t>
                      </a:r>
                    </a:p>
                  </a:txBody>
                  <a:tcPr anchor="ctr"/>
                </a:tc>
                <a:tc>
                  <a:txBody>
                    <a:bodyPr/>
                    <a:lstStyle/>
                    <a:p>
                      <a:r>
                        <a:rPr sz="900"/>
                        <a:t>Momeni et al., 2024</a:t>
                      </a:r>
                    </a:p>
                  </a:txBody>
                  <a:tcPr anchor="ctr"/>
                </a:tc>
                <a:tc>
                  <a:txBody>
                    <a:bodyPr/>
                    <a:lstStyle/>
                    <a:p>
                      <a:r>
                        <a:rPr sz="900"/>
                        <a:t>IEEE EMBC</a:t>
                      </a:r>
                    </a:p>
                  </a:txBody>
                  <a:tcPr anchor="ctr"/>
                </a:tc>
                <a:tc>
                  <a:txBody>
                    <a:bodyPr/>
                    <a:lstStyle/>
                    <a:p>
                      <a:r>
                        <a:rPr sz="900"/>
                        <a:t>Applies CHROM/POS with dynamic landmark-based ROI in a live hospital ER setting</a:t>
                      </a:r>
                    </a:p>
                  </a:txBody>
                  <a:tcPr anchor="ctr"/>
                </a:tc>
                <a:tc>
                  <a:txBody>
                    <a:bodyPr/>
                    <a:lstStyle/>
                    <a:p>
                      <a:r>
                        <a:rPr sz="900" dirty="0"/>
                        <a:t>Mean error &lt;2 bpm over 350 min of natural head movement/speech</a:t>
                      </a:r>
                    </a:p>
                  </a:txBody>
                  <a:tcPr anchor="ctr"/>
                </a:tc>
                <a:tc>
                  <a:txBody>
                    <a:bodyPr/>
                    <a:lstStyle/>
                    <a:p>
                      <a:r>
                        <a:rPr sz="900" dirty="0"/>
                        <a:t>Validates the exact ROI + CHROM/POS pipeline design adopted here</a:t>
                      </a:r>
                    </a:p>
                  </a:txBody>
                  <a:tcPr anchor="ctr"/>
                </a:tc>
                <a:extLst>
                  <a:ext uri="{0D108BD9-81ED-4DB2-BD59-A6C34878D82A}">
                    <a16:rowId xmlns="" xmlns:a16="http://schemas.microsoft.com/office/drawing/2014/main" val="4207836015"/>
                  </a:ext>
                </a:extLst>
              </a:tr>
            </a:tbl>
          </a:graphicData>
        </a:graphic>
      </p:graphicFrame>
      <p:sp>
        <p:nvSpPr>
          <p:cNvPr id="6" name="Footer Placeholder 5">
            <a:extLst>
              <a:ext uri="{FF2B5EF4-FFF2-40B4-BE49-F238E27FC236}">
                <a16:creationId xmlns="" xmlns:a16="http://schemas.microsoft.com/office/drawing/2014/main" id="{4DF37903-95EF-8CD2-FC46-A437CEFF07C4}"/>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10" name="Slide Number Placeholder 5">
            <a:extLst>
              <a:ext uri="{FF2B5EF4-FFF2-40B4-BE49-F238E27FC236}">
                <a16:creationId xmlns="" xmlns:a16="http://schemas.microsoft.com/office/drawing/2014/main" id="{6A1465D7-94FF-1DC7-7AFE-2361B83CBA5A}"/>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Roboto Slab"/>
                <a:ea typeface="+mn-ea"/>
                <a:cs typeface="+mn-cs"/>
              </a:rPr>
              <a:t>4</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Tree>
    <p:extLst>
      <p:ext uri="{BB962C8B-B14F-4D97-AF65-F5344CB8AC3E}">
        <p14:creationId xmlns:p14="http://schemas.microsoft.com/office/powerpoint/2010/main" val="630740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IN" dirty="0"/>
              <a:t>Problem Statement</a:t>
            </a:r>
          </a:p>
        </p:txBody>
      </p:sp>
      <p:sp>
        <p:nvSpPr>
          <p:cNvPr id="4" name="Date Placeholder 3">
            <a:extLst>
              <a:ext uri="{FF2B5EF4-FFF2-40B4-BE49-F238E27FC236}">
                <a16:creationId xmlns="" xmlns:a16="http://schemas.microsoft.com/office/drawing/2014/main" id="{701093FF-68FE-1A34-83ED-94CBF152C6E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624355F-68A3-4706-9176-BEF76A3AECFE}"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2" name="Footer Placeholder 1">
            <a:extLst>
              <a:ext uri="{FF2B5EF4-FFF2-40B4-BE49-F238E27FC236}">
                <a16:creationId xmlns="" xmlns:a16="http://schemas.microsoft.com/office/drawing/2014/main" id="{C05C1CE5-FC18-6472-E8D0-FDE5A3D14B6D}"/>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7" name="Slide Number Placeholder 5">
            <a:extLst>
              <a:ext uri="{FF2B5EF4-FFF2-40B4-BE49-F238E27FC236}">
                <a16:creationId xmlns="" xmlns:a16="http://schemas.microsoft.com/office/drawing/2014/main" id="{EFA32282-0253-0C86-D4DC-B461A5B742D3}"/>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5</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8" name="TextBox 7"/>
          <p:cNvSpPr txBox="1"/>
          <p:nvPr/>
        </p:nvSpPr>
        <p:spPr>
          <a:xfrm>
            <a:off x="609600" y="1600200"/>
            <a:ext cx="11000000" cy="4600000"/>
          </a:xfrm>
          <a:prstGeom prst="rect">
            <a:avLst/>
          </a:prstGeom>
          <a:noFill/>
        </p:spPr>
        <p:txBody>
          <a:bodyPr wrap="square">
            <a:spAutoFit/>
          </a:bodyPr>
          <a:lstStyle/>
          <a:p>
            <a:pPr>
              <a:spcAft>
                <a:spcPts val="800"/>
              </a:spcAft>
            </a:pPr>
            <a:r>
              <a:rPr sz="1700" dirty="0">
                <a:solidFill>
                  <a:srgbClr val="202020"/>
                </a:solidFill>
                <a:latin typeface="Roboto Slab"/>
              </a:rPr>
              <a:t>Existing HR monitoring needs a physical sensor (pulse oximeter, ECG lead, wearable) worn or touched — impractical in shared, hygiene-sensitive, or low-resource settings.</a:t>
            </a:r>
          </a:p>
          <a:p>
            <a:pPr>
              <a:spcAft>
                <a:spcPts val="800"/>
              </a:spcAft>
            </a:pPr>
            <a:r>
              <a:rPr sz="1700" dirty="0">
                <a:solidFill>
                  <a:srgbClr val="202020"/>
                </a:solidFill>
                <a:latin typeface="Roboto Slab"/>
              </a:rPr>
              <a:t>A single shared device cannot passively monitor multiple, unidentified people (e.g. a reception desk, wellness kiosk, or telehealth station).</a:t>
            </a:r>
          </a:p>
          <a:p>
            <a:pPr>
              <a:spcAft>
                <a:spcPts val="800"/>
              </a:spcAft>
            </a:pPr>
            <a:r>
              <a:rPr sz="1700" dirty="0">
                <a:solidFill>
                  <a:srgbClr val="202020"/>
                </a:solidFill>
                <a:latin typeface="Roboto Slab"/>
              </a:rPr>
              <a:t>Published </a:t>
            </a:r>
            <a:r>
              <a:rPr sz="1700" dirty="0" err="1">
                <a:solidFill>
                  <a:srgbClr val="202020"/>
                </a:solidFill>
                <a:latin typeface="Roboto Slab"/>
              </a:rPr>
              <a:t>rPPG</a:t>
            </a:r>
            <a:r>
              <a:rPr sz="1700" dirty="0">
                <a:solidFill>
                  <a:srgbClr val="202020"/>
                </a:solidFill>
                <a:latin typeface="Roboto Slab"/>
              </a:rPr>
              <a:t> research is mostly benchmarked offline on fixed datasets — there is no readily deployable system that combines live face detection, per-person recognition, contactless HR estimation, reference validation, and result logging in one pipeline.</a:t>
            </a:r>
          </a:p>
          <a:p>
            <a:pPr>
              <a:spcAft>
                <a:spcPts val="800"/>
              </a:spcAft>
            </a:pPr>
            <a:endParaRPr sz="1700" dirty="0">
              <a:solidFill>
                <a:srgbClr val="202020"/>
              </a:solidFill>
              <a:latin typeface="Roboto Slab"/>
            </a:endParaRPr>
          </a:p>
          <a:p>
            <a:pPr>
              <a:spcAft>
                <a:spcPts val="800"/>
              </a:spcAft>
            </a:pPr>
            <a:r>
              <a:rPr sz="1700" dirty="0">
                <a:solidFill>
                  <a:srgbClr val="202020"/>
                </a:solidFill>
                <a:latin typeface="Roboto Slab"/>
              </a:rPr>
              <a:t>Problem Statement: How can heart rate be measured accurately and continuously from an ordinary webcam, with no physical contact, while correctly attributing each reading to the right person and validating its accuracy against a reference device?</a:t>
            </a:r>
          </a:p>
        </p:txBody>
      </p:sp>
    </p:spTree>
    <p:extLst>
      <p:ext uri="{BB962C8B-B14F-4D97-AF65-F5344CB8AC3E}">
        <p14:creationId xmlns:p14="http://schemas.microsoft.com/office/powerpoint/2010/main" val="79215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IN" dirty="0"/>
              <a:t>Project Objectives</a:t>
            </a:r>
          </a:p>
        </p:txBody>
      </p:sp>
      <p:sp>
        <p:nvSpPr>
          <p:cNvPr id="4" name="Date Placeholder 3">
            <a:extLst>
              <a:ext uri="{FF2B5EF4-FFF2-40B4-BE49-F238E27FC236}">
                <a16:creationId xmlns="" xmlns:a16="http://schemas.microsoft.com/office/drawing/2014/main" id="{701093FF-68FE-1A34-83ED-94CBF152C6E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B35AC63-85E2-4B0A-AE28-6C24590349A3}"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2" name="Footer Placeholder 1">
            <a:extLst>
              <a:ext uri="{FF2B5EF4-FFF2-40B4-BE49-F238E27FC236}">
                <a16:creationId xmlns="" xmlns:a16="http://schemas.microsoft.com/office/drawing/2014/main" id="{C6FC11D2-400C-A9DD-49A8-4A6636086D7F}"/>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7" name="TextBox 6">
            <a:extLst>
              <a:ext uri="{FF2B5EF4-FFF2-40B4-BE49-F238E27FC236}">
                <a16:creationId xmlns="" xmlns:a16="http://schemas.microsoft.com/office/drawing/2014/main" id="{892F64B2-CAD8-04F5-3D77-1C42CEA0AB3C}"/>
              </a:ext>
            </a:extLst>
          </p:cNvPr>
          <p:cNvSpPr txBox="1"/>
          <p:nvPr/>
        </p:nvSpPr>
        <p:spPr>
          <a:xfrm>
            <a:off x="1541942" y="1800417"/>
            <a:ext cx="9075875" cy="3831818"/>
          </a:xfrm>
          <a:prstGeom prst="rect">
            <a:avLst/>
          </a:prstGeom>
          <a:noFill/>
        </p:spPr>
        <p:txBody>
          <a:bodyPr wrap="square" rtlCol="0">
            <a:spAutoFit/>
          </a:bodyPr>
          <a:lstStyle/>
          <a:p>
            <a:pPr>
              <a:lnSpc>
                <a:spcPct val="150000"/>
              </a:lnSpc>
            </a:pPr>
            <a:r>
              <a:rPr lang="en-US" b="1" dirty="0"/>
              <a:t>Primary Objectives</a:t>
            </a:r>
            <a:endParaRPr lang="en-US" dirty="0"/>
          </a:p>
          <a:p>
            <a:pPr>
              <a:lnSpc>
                <a:spcPct val="150000"/>
              </a:lnSpc>
            </a:pPr>
            <a:r>
              <a:rPr lang="en-US" dirty="0"/>
              <a:t>Develop a contactless heart rate monitoring system using a webcam. </a:t>
            </a:r>
          </a:p>
          <a:p>
            <a:pPr>
              <a:lnSpc>
                <a:spcPct val="150000"/>
              </a:lnSpc>
            </a:pPr>
            <a:r>
              <a:rPr lang="en-US" dirty="0"/>
              <a:t>Estimate heart rate in real time using </a:t>
            </a:r>
            <a:r>
              <a:rPr lang="en-US" dirty="0" err="1"/>
              <a:t>rPPG</a:t>
            </a:r>
            <a:r>
              <a:rPr lang="en-US" dirty="0"/>
              <a:t> algorithms (Green, CHROM, and POS). </a:t>
            </a:r>
          </a:p>
          <a:p>
            <a:pPr>
              <a:lnSpc>
                <a:spcPct val="150000"/>
              </a:lnSpc>
            </a:pPr>
            <a:r>
              <a:rPr lang="en-US" dirty="0"/>
              <a:t>Integrate face recognition to identify and monitor users. </a:t>
            </a:r>
          </a:p>
          <a:p>
            <a:pPr>
              <a:lnSpc>
                <a:spcPct val="150000"/>
              </a:lnSpc>
            </a:pPr>
            <a:r>
              <a:rPr lang="en-US" b="1" dirty="0"/>
              <a:t>Secondary Objectives</a:t>
            </a:r>
            <a:endParaRPr lang="en-US" dirty="0"/>
          </a:p>
          <a:p>
            <a:pPr>
              <a:lnSpc>
                <a:spcPct val="150000"/>
              </a:lnSpc>
            </a:pPr>
            <a:r>
              <a:rPr lang="en-US" dirty="0"/>
              <a:t>Display heart rate and signal quality in real time. </a:t>
            </a:r>
          </a:p>
          <a:p>
            <a:pPr>
              <a:lnSpc>
                <a:spcPct val="150000"/>
              </a:lnSpc>
            </a:pPr>
            <a:r>
              <a:rPr lang="en-US" dirty="0"/>
              <a:t>Save user records and generate reports. </a:t>
            </a:r>
          </a:p>
          <a:p>
            <a:pPr>
              <a:lnSpc>
                <a:spcPct val="150000"/>
              </a:lnSpc>
            </a:pPr>
            <a:r>
              <a:rPr lang="en-US" dirty="0"/>
              <a:t>Build a system that can be extended for future healthcare applications. </a:t>
            </a:r>
          </a:p>
          <a:p>
            <a:pPr marL="342900" indent="-342900">
              <a:lnSpc>
                <a:spcPct val="150000"/>
              </a:lnSpc>
              <a:buAutoNum type="arabicPeriod"/>
            </a:pPr>
            <a:endParaRPr lang="en-IN" dirty="0"/>
          </a:p>
        </p:txBody>
      </p:sp>
      <p:sp>
        <p:nvSpPr>
          <p:cNvPr id="9" name="Slide Number Placeholder 5">
            <a:extLst>
              <a:ext uri="{FF2B5EF4-FFF2-40B4-BE49-F238E27FC236}">
                <a16:creationId xmlns="" xmlns:a16="http://schemas.microsoft.com/office/drawing/2014/main" id="{2B28B806-AAC6-5C82-AFDF-3E839577A2CD}"/>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6</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Tree>
    <p:extLst>
      <p:ext uri="{BB962C8B-B14F-4D97-AF65-F5344CB8AC3E}">
        <p14:creationId xmlns:p14="http://schemas.microsoft.com/office/powerpoint/2010/main" val="2125971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AAEC98-9F5D-57A1-359A-44EAEF3B4E1C}"/>
              </a:ext>
            </a:extLst>
          </p:cNvPr>
          <p:cNvSpPr>
            <a:spLocks noGrp="1"/>
          </p:cNvSpPr>
          <p:nvPr>
            <p:ph type="title"/>
          </p:nvPr>
        </p:nvSpPr>
        <p:spPr/>
        <p:txBody>
          <a:bodyPr/>
          <a:lstStyle/>
          <a:p>
            <a:r>
              <a:rPr lang="en-IN" dirty="0"/>
              <a:t>Project Methodology</a:t>
            </a:r>
          </a:p>
        </p:txBody>
      </p:sp>
      <p:sp>
        <p:nvSpPr>
          <p:cNvPr id="3" name="Date Placeholder 2">
            <a:extLst>
              <a:ext uri="{FF2B5EF4-FFF2-40B4-BE49-F238E27FC236}">
                <a16:creationId xmlns="" xmlns:a16="http://schemas.microsoft.com/office/drawing/2014/main" id="{91A1F721-B5F5-098C-8F83-02B74829FBF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998867-FC48-43F7-B725-2634657F46DE}"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5" name="Footer Placeholder 4">
            <a:extLst>
              <a:ext uri="{FF2B5EF4-FFF2-40B4-BE49-F238E27FC236}">
                <a16:creationId xmlns="" xmlns:a16="http://schemas.microsoft.com/office/drawing/2014/main" id="{5037AF53-6640-9841-D930-5DC78170D4A1}"/>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8" name="Slide Number Placeholder 5">
            <a:extLst>
              <a:ext uri="{FF2B5EF4-FFF2-40B4-BE49-F238E27FC236}">
                <a16:creationId xmlns="" xmlns:a16="http://schemas.microsoft.com/office/drawing/2014/main" id="{464B88E2-1C07-A91D-9717-6A06119AB1AF}"/>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7</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857" y="1532105"/>
            <a:ext cx="10615749" cy="4482603"/>
          </a:xfrm>
          <a:prstGeom prst="rect">
            <a:avLst/>
          </a:prstGeom>
        </p:spPr>
      </p:pic>
    </p:spTree>
    <p:extLst>
      <p:ext uri="{BB962C8B-B14F-4D97-AF65-F5344CB8AC3E}">
        <p14:creationId xmlns:p14="http://schemas.microsoft.com/office/powerpoint/2010/main" val="1151351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3600" dirty="0">
                <a:cs typeface="Arial" panose="020B0604020202020204" pitchFamily="34" charset="0"/>
              </a:rPr>
              <a:t>Proposed Solution</a:t>
            </a:r>
            <a:endParaRPr lang="en-IN" dirty="0"/>
          </a:p>
        </p:txBody>
      </p:sp>
      <p:sp>
        <p:nvSpPr>
          <p:cNvPr id="4" name="Date Placeholder 3">
            <a:extLst>
              <a:ext uri="{FF2B5EF4-FFF2-40B4-BE49-F238E27FC236}">
                <a16:creationId xmlns="" xmlns:a16="http://schemas.microsoft.com/office/drawing/2014/main" id="{3B3A3D7D-7812-0881-D790-3DDAE3C8D1E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40194F1-D0E0-404B-9636-4AD13125BA45}" type="datetime3">
              <a:rPr kumimoji="0" lang="en-US" sz="1200" b="0" i="0" u="none" strike="noStrike" kern="1200" cap="none" spc="0" normalizeH="0" baseline="0" noProof="0" smtClean="0">
                <a:ln>
                  <a:noFill/>
                </a:ln>
                <a:solidFill>
                  <a:prstClr val="black">
                    <a:tint val="75000"/>
                  </a:prstClr>
                </a:solidFill>
                <a:effectLst/>
                <a:uLnTx/>
                <a:uFillTx/>
                <a:latin typeface="Roboto Slab"/>
                <a:ea typeface="+mn-ea"/>
                <a:cs typeface="+mn-cs"/>
              </a:rPr>
              <a:t>4 August 2026</a:t>
            </a:fld>
            <a:endParaRPr kumimoji="0" lang="en-US" sz="1200" b="0" i="0" u="none" strike="noStrike" kern="1200" cap="none" spc="0" normalizeH="0" baseline="0" noProof="0">
              <a:ln>
                <a:noFill/>
              </a:ln>
              <a:solidFill>
                <a:prstClr val="black">
                  <a:tint val="75000"/>
                </a:prstClr>
              </a:solidFill>
              <a:effectLst/>
              <a:uLnTx/>
              <a:uFillTx/>
              <a:latin typeface="Roboto Slab"/>
              <a:ea typeface="+mn-ea"/>
              <a:cs typeface="+mn-cs"/>
            </a:endParaRPr>
          </a:p>
        </p:txBody>
      </p:sp>
      <p:sp>
        <p:nvSpPr>
          <p:cNvPr id="2" name="Footer Placeholder 1">
            <a:extLst>
              <a:ext uri="{FF2B5EF4-FFF2-40B4-BE49-F238E27FC236}">
                <a16:creationId xmlns="" xmlns:a16="http://schemas.microsoft.com/office/drawing/2014/main" id="{4318A742-B1D7-F86D-DFA9-2A323A4357B9}"/>
              </a:ext>
            </a:extLst>
          </p:cNvPr>
          <p:cNvSpPr>
            <a:spLocks noGrp="1"/>
          </p:cNvSpPr>
          <p:nvPr>
            <p:ph type="ftr" sz="quarter" idx="3"/>
          </p:nvPr>
        </p:nvSpPr>
        <p:spPr/>
        <p:txBody>
          <a:bodyPr/>
          <a:lstStyle/>
          <a:p>
            <a:pPr>
              <a:defRPr/>
            </a:pPr>
            <a:r>
              <a:rPr lang="en-US">
                <a:solidFill>
                  <a:prstClr val="black">
                    <a:tint val="75000"/>
                  </a:prstClr>
                </a:solidFill>
              </a:rPr>
              <a:t>REVA Academy for Corporate Excellence – RACE | race.reva.edu.in</a:t>
            </a:r>
            <a:endParaRPr lang="en-US" dirty="0">
              <a:solidFill>
                <a:prstClr val="black">
                  <a:tint val="75000"/>
                </a:prstClr>
              </a:solidFill>
            </a:endParaRPr>
          </a:p>
        </p:txBody>
      </p:sp>
      <p:sp>
        <p:nvSpPr>
          <p:cNvPr id="3" name="Slide Number Placeholder 5">
            <a:extLst>
              <a:ext uri="{FF2B5EF4-FFF2-40B4-BE49-F238E27FC236}">
                <a16:creationId xmlns="" xmlns:a16="http://schemas.microsoft.com/office/drawing/2014/main" id="{141D4B1C-6AE4-A8F2-E9FA-BC79218EF321}"/>
              </a:ext>
            </a:extLst>
          </p:cNvPr>
          <p:cNvSpPr>
            <a:spLocks noGrp="1"/>
          </p:cNvSpPr>
          <p:nvPr>
            <p:ph type="sldNum" sz="quarter" idx="12"/>
          </p:nvPr>
        </p:nvSpPr>
        <p:spPr>
          <a:xfrm>
            <a:off x="9194324" y="638278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Roboto Slab"/>
              </a:rPr>
              <a:t>8</a:t>
            </a:r>
            <a:r>
              <a:rPr kumimoji="0" lang="en-US" sz="1200" b="0" i="0" u="none" strike="noStrike" kern="1200" cap="none" spc="0" normalizeH="0" baseline="0" noProof="0" dirty="0">
                <a:ln>
                  <a:noFill/>
                </a:ln>
                <a:solidFill>
                  <a:schemeClr val="tx1"/>
                </a:solidFill>
                <a:effectLst/>
                <a:uLnTx/>
                <a:uFillTx/>
                <a:latin typeface="Roboto Slab"/>
                <a:ea typeface="+mn-ea"/>
                <a:cs typeface="+mn-cs"/>
              </a:rPr>
              <a:t>/10</a:t>
            </a:r>
          </a:p>
        </p:txBody>
      </p:sp>
      <p:sp>
        <p:nvSpPr>
          <p:cNvPr id="7" name="TextBox 6"/>
          <p:cNvSpPr txBox="1"/>
          <p:nvPr/>
        </p:nvSpPr>
        <p:spPr>
          <a:xfrm>
            <a:off x="609600" y="1600200"/>
            <a:ext cx="11000000" cy="4600000"/>
          </a:xfrm>
          <a:prstGeom prst="rect">
            <a:avLst/>
          </a:prstGeom>
          <a:noFill/>
        </p:spPr>
        <p:txBody>
          <a:bodyPr wrap="square">
            <a:spAutoFit/>
          </a:bodyPr>
          <a:lstStyle/>
          <a:p>
            <a:pPr>
              <a:spcAft>
                <a:spcPts val="800"/>
              </a:spcAft>
            </a:pPr>
            <a:r>
              <a:rPr sz="1600">
                <a:solidFill>
                  <a:srgbClr val="202020"/>
                </a:solidFill>
                <a:latin typeface="Roboto Slab"/>
              </a:rPr>
              <a:t>HeartRateAI: a modular, real-time, contactless HR monitoring system using only a standard RGB webcam.</a:t>
            </a:r>
          </a:p>
          <a:p>
            <a:pPr>
              <a:spcAft>
                <a:spcPts val="800"/>
              </a:spcAft>
            </a:pPr>
            <a:r>
              <a:rPr sz="1600">
                <a:solidFill>
                  <a:srgbClr val="202020"/>
                </a:solidFill>
                <a:latin typeface="Roboto Slab"/>
              </a:rPr>
              <a:t>Pipeline: MediaPipe Face Mesh detects the face + 468 landmarks → stabilised forehead ROI is cropped → mean R/G/B extracted per frame into per-person buffers → detrend/normalise/Butterworth band-pass filter (0.7–4 Hz) → BVP recovered via switchable Green/CHROM/POS → FFT peak-frequency → BPM with a spectral confidence score.</a:t>
            </a:r>
          </a:p>
          <a:p>
            <a:pPr>
              <a:spcAft>
                <a:spcPts val="800"/>
              </a:spcAft>
            </a:pPr>
            <a:r>
              <a:rPr sz="1600">
                <a:solidFill>
                  <a:srgbClr val="202020"/>
                </a:solidFill>
                <a:latin typeface="Roboto Slab"/>
              </a:rPr>
              <a:t>Face recognition (InsightFace ArcFace, OpenCV LBPH fallback) auto-enrolls and identifies each user so readings are logged under the right name.</a:t>
            </a:r>
          </a:p>
          <a:p>
            <a:pPr>
              <a:spcAft>
                <a:spcPts val="800"/>
              </a:spcAft>
            </a:pPr>
            <a:r>
              <a:rPr sz="1600">
                <a:solidFill>
                  <a:srgbClr val="202020"/>
                </a:solidFill>
                <a:latin typeface="Roboto Slab"/>
              </a:rPr>
              <a:t>Optional validation against a Bluetooth HR strap or manual smartwatch entry computes MAE, RMSE, and Accuracy% per session.</a:t>
            </a:r>
          </a:p>
          <a:p>
            <a:pPr>
              <a:spcAft>
                <a:spcPts val="800"/>
              </a:spcAft>
            </a:pPr>
            <a:r>
              <a:rPr sz="1600">
                <a:solidFill>
                  <a:srgbClr val="202020"/>
                </a:solidFill>
                <a:latin typeface="Roboto Slab"/>
              </a:rPr>
              <a:t>Readings persist in SQLite; a live Streamlit dashboard shows video + ROI overlay, RGB/FFT plots, BPM, signal quality, plus searchable history and CSV/PDF export.</a:t>
            </a:r>
          </a:p>
        </p:txBody>
      </p:sp>
    </p:spTree>
    <p:extLst>
      <p:ext uri="{BB962C8B-B14F-4D97-AF65-F5344CB8AC3E}">
        <p14:creationId xmlns:p14="http://schemas.microsoft.com/office/powerpoint/2010/main" val="3510827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File:Noun Project question mark icon 1101884 cc.svg - Outreach Wik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 xmlns:a16="http://schemas.microsoft.com/office/drawing/2014/main" id="{7A145C07-8365-45F1-BB24-52654C8AB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1197" y="2700997"/>
            <a:ext cx="2767120" cy="270920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307598569"/>
      </p:ext>
    </p:extLst>
  </p:cSld>
  <p:clrMapOvr>
    <a:masterClrMapping/>
  </p:clrMapOvr>
</p:sld>
</file>

<file path=ppt/theme/theme1.xml><?xml version="1.0" encoding="utf-8"?>
<a:theme xmlns:a="http://schemas.openxmlformats.org/drawingml/2006/main" name="1_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ustom 5">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1868</TotalTime>
  <Words>838</Words>
  <Application>Microsoft Office PowerPoint</Application>
  <PresentationFormat>Widescreen</PresentationFormat>
  <Paragraphs>116</Paragraphs>
  <Slides>9</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9</vt:i4>
      </vt:variant>
    </vt:vector>
  </HeadingPairs>
  <TitlesOfParts>
    <vt:vector size="19" baseType="lpstr">
      <vt:lpstr>Montserrat Light</vt:lpstr>
      <vt:lpstr>Montserrat Bold</vt:lpstr>
      <vt:lpstr>Roboto Slab</vt:lpstr>
      <vt:lpstr>Calibri</vt:lpstr>
      <vt:lpstr>Calibri Light</vt:lpstr>
      <vt:lpstr>Arial</vt:lpstr>
      <vt:lpstr>FZShuTi</vt:lpstr>
      <vt:lpstr>1_Office Theme</vt:lpstr>
      <vt:lpstr>Custom Design</vt:lpstr>
      <vt:lpstr>2_Office Theme</vt:lpstr>
      <vt:lpstr>HeartRateAI: Contactless Heart Rate Monitoring via Face Recognition and rPPG Proposal Presentation</vt:lpstr>
      <vt:lpstr>Agenda</vt:lpstr>
      <vt:lpstr>Introduction</vt:lpstr>
      <vt:lpstr>Literature Review</vt:lpstr>
      <vt:lpstr>Problem Statement</vt:lpstr>
      <vt:lpstr>Project Objectives</vt:lpstr>
      <vt:lpstr>Project Methodology</vt:lpstr>
      <vt:lpstr>Proposed Solution</vt:lpstr>
      <vt:lpstr>PowerPoint Presentation</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H2 Planning</dc:title>
  <dc:creator>RACE-996</dc:creator>
  <cp:lastModifiedBy>Microsoft account</cp:lastModifiedBy>
  <cp:revision>220</cp:revision>
  <dcterms:created xsi:type="dcterms:W3CDTF">2021-01-28T08:43:53Z</dcterms:created>
  <dcterms:modified xsi:type="dcterms:W3CDTF">2026-08-04T10:40:44Z</dcterms:modified>
</cp:coreProperties>
</file>